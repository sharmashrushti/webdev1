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62"/>
  </p:notesMasterIdLst>
  <p:handoutMasterIdLst>
    <p:handoutMasterId r:id="rId63"/>
  </p:handoutMasterIdLst>
  <p:sldIdLst>
    <p:sldId id="497" r:id="rId2"/>
    <p:sldId id="774" r:id="rId3"/>
    <p:sldId id="736" r:id="rId4"/>
    <p:sldId id="792" r:id="rId5"/>
    <p:sldId id="738" r:id="rId6"/>
    <p:sldId id="764" r:id="rId7"/>
    <p:sldId id="739" r:id="rId8"/>
    <p:sldId id="804" r:id="rId9"/>
    <p:sldId id="794" r:id="rId10"/>
    <p:sldId id="753" r:id="rId11"/>
    <p:sldId id="755" r:id="rId12"/>
    <p:sldId id="791" r:id="rId13"/>
    <p:sldId id="756" r:id="rId14"/>
    <p:sldId id="754" r:id="rId15"/>
    <p:sldId id="759" r:id="rId16"/>
    <p:sldId id="787" r:id="rId17"/>
    <p:sldId id="802" r:id="rId18"/>
    <p:sldId id="773" r:id="rId19"/>
    <p:sldId id="742" r:id="rId20"/>
    <p:sldId id="789" r:id="rId21"/>
    <p:sldId id="743" r:id="rId22"/>
    <p:sldId id="771" r:id="rId23"/>
    <p:sldId id="763" r:id="rId24"/>
    <p:sldId id="744" r:id="rId25"/>
    <p:sldId id="770" r:id="rId26"/>
    <p:sldId id="778" r:id="rId27"/>
    <p:sldId id="749" r:id="rId28"/>
    <p:sldId id="781" r:id="rId29"/>
    <p:sldId id="782" r:id="rId30"/>
    <p:sldId id="779" r:id="rId31"/>
    <p:sldId id="785" r:id="rId32"/>
    <p:sldId id="812" r:id="rId33"/>
    <p:sldId id="800" r:id="rId34"/>
    <p:sldId id="814" r:id="rId35"/>
    <p:sldId id="780" r:id="rId36"/>
    <p:sldId id="772" r:id="rId37"/>
    <p:sldId id="777" r:id="rId38"/>
    <p:sldId id="786" r:id="rId39"/>
    <p:sldId id="813" r:id="rId40"/>
    <p:sldId id="766" r:id="rId41"/>
    <p:sldId id="762" r:id="rId42"/>
    <p:sldId id="801" r:id="rId43"/>
    <p:sldId id="799" r:id="rId44"/>
    <p:sldId id="806" r:id="rId45"/>
    <p:sldId id="803" r:id="rId46"/>
    <p:sldId id="788" r:id="rId47"/>
    <p:sldId id="745" r:id="rId48"/>
    <p:sldId id="805" r:id="rId49"/>
    <p:sldId id="767" r:id="rId50"/>
    <p:sldId id="746" r:id="rId51"/>
    <p:sldId id="750" r:id="rId52"/>
    <p:sldId id="793" r:id="rId53"/>
    <p:sldId id="790" r:id="rId54"/>
    <p:sldId id="751" r:id="rId55"/>
    <p:sldId id="761" r:id="rId56"/>
    <p:sldId id="784" r:id="rId57"/>
    <p:sldId id="811" r:id="rId58"/>
    <p:sldId id="752" r:id="rId59"/>
    <p:sldId id="768" r:id="rId60"/>
    <p:sldId id="757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4AC39ECB-DBA3-45D0-977F-251B9CD958EC}">
          <p14:sldIdLst/>
        </p14:section>
        <p14:section name="Training Logistics" id="{636578D8-A63E-4384-B36E-A0A31A7132D3}">
          <p14:sldIdLst>
            <p14:sldId id="497"/>
            <p14:sldId id="774"/>
            <p14:sldId id="736"/>
            <p14:sldId id="792"/>
            <p14:sldId id="738"/>
            <p14:sldId id="764"/>
            <p14:sldId id="739"/>
            <p14:sldId id="804"/>
            <p14:sldId id="794"/>
            <p14:sldId id="753"/>
            <p14:sldId id="755"/>
            <p14:sldId id="791"/>
            <p14:sldId id="756"/>
            <p14:sldId id="754"/>
            <p14:sldId id="759"/>
            <p14:sldId id="787"/>
            <p14:sldId id="802"/>
            <p14:sldId id="773"/>
            <p14:sldId id="742"/>
            <p14:sldId id="789"/>
            <p14:sldId id="743"/>
            <p14:sldId id="771"/>
            <p14:sldId id="763"/>
            <p14:sldId id="744"/>
            <p14:sldId id="770"/>
            <p14:sldId id="778"/>
            <p14:sldId id="749"/>
            <p14:sldId id="781"/>
            <p14:sldId id="782"/>
            <p14:sldId id="779"/>
            <p14:sldId id="785"/>
            <p14:sldId id="812"/>
            <p14:sldId id="800"/>
            <p14:sldId id="814"/>
            <p14:sldId id="780"/>
            <p14:sldId id="772"/>
            <p14:sldId id="777"/>
            <p14:sldId id="786"/>
            <p14:sldId id="813"/>
            <p14:sldId id="766"/>
            <p14:sldId id="762"/>
            <p14:sldId id="801"/>
            <p14:sldId id="799"/>
            <p14:sldId id="806"/>
            <p14:sldId id="803"/>
            <p14:sldId id="788"/>
            <p14:sldId id="745"/>
            <p14:sldId id="805"/>
            <p14:sldId id="767"/>
            <p14:sldId id="746"/>
            <p14:sldId id="750"/>
            <p14:sldId id="793"/>
            <p14:sldId id="790"/>
            <p14:sldId id="751"/>
            <p14:sldId id="761"/>
            <p14:sldId id="784"/>
            <p14:sldId id="811"/>
            <p14:sldId id="752"/>
            <p14:sldId id="768"/>
            <p14:sldId id="757"/>
          </p14:sldIdLst>
        </p14:section>
        <p14:section name="Installation, Inspection &amp; Maintenance" id="{3FA42F3C-37AB-4D15-B1AF-E3919C5D98C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FF"/>
    <a:srgbClr val="0099FF"/>
    <a:srgbClr val="83C256"/>
    <a:srgbClr val="00FFFF"/>
    <a:srgbClr val="7FBB59"/>
    <a:srgbClr val="E0681E"/>
    <a:srgbClr val="E2A700"/>
    <a:srgbClr val="7A6A28"/>
    <a:srgbClr val="008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7CD0E-E0C1-4084-A220-58D892078BE2}" v="8" dt="2024-04-08T10:33:38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1" autoAdjust="0"/>
    <p:restoredTop sz="94224" autoAdjust="0"/>
  </p:normalViewPr>
  <p:slideViewPr>
    <p:cSldViewPr snapToGrid="0">
      <p:cViewPr varScale="1">
        <p:scale>
          <a:sx n="100" d="100"/>
          <a:sy n="100" d="100"/>
        </p:scale>
        <p:origin x="176" y="64"/>
      </p:cViewPr>
      <p:guideLst>
        <p:guide orient="horz" pos="2160"/>
        <p:guide pos="38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80"/>
    </p:cViewPr>
  </p:sorter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46C69-C8F1-492E-9316-9AB7C6225AF4}" type="datetimeFigureOut">
              <a:rPr lang="de-DE" smtClean="0"/>
              <a:t>24.08.2026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E19FD-0356-4E38-81BF-CC2CC5DB7AD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9093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8B922-56C9-46FC-9595-9C2DEF7C3E2B}" type="datetimeFigureOut">
              <a:rPr lang="de-DE" smtClean="0"/>
              <a:t>24.08.2026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1544D-F39A-4F55-BC21-9BE909A9B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22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37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72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08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42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680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17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51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487" algn="l" defTabSz="9138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7853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3272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D9CF-1DDF-8D62-624F-5C186AC7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41DDAF58-27E4-3CB5-6514-E4EE685304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4AFD813-E686-E366-55D9-5293CFF6F0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CE0FCFB-4AF3-0AC7-174D-C313C93C0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43676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20135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54729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80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5DE1-EB31-53E6-DF29-082A2BBD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EAE5EAA-A29E-A681-1B2D-8090C496E0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E3B6AF32-8037-7613-8AA4-91892DEA5F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D66F572-B3BA-3E55-71B6-1BB85B1A6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1863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F9A9-D4E7-AB0C-1765-928A694D6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6942C19-2A84-25FD-7093-819E883AF3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D13FFF1-B1B1-C71C-9754-A6A570B486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E7DE7FB-7150-CC73-2278-787A03C29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5855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741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16726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2A39E-6714-58A1-D0E7-EE063B62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A4A1F5A5-23D1-F995-962B-F31E83EBCF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EE81DC45-6D40-9FD0-22C1-916DFF7B04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17EA351-3B86-2AE4-F4F1-D67C23779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9969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1146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15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580824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1431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BA42-CECB-0BD8-78E2-F52E89BB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FF2C213-4884-6AB8-5C72-E1DD7906C4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F22BB2A-E27C-7770-542D-87438B4664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AC15EA2-6740-59D0-B49B-2704DF046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23237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3464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19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6641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20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14501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27336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4968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23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924108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24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82142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25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141517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49336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29182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805092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29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7398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30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034268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31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5448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F95B-48C2-AA3E-B83E-3F2AC1B4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C7C6263-79C6-BD43-48D4-307B036CB1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32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3F255BB-34DC-ACBF-2584-7E91B772F2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578396F-51CC-C734-3397-791C2C20E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9710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79C5-0FD8-B2F1-B3FD-AEEC8270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8C6AD6AC-003D-AAFF-A4F6-4120EED6AA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33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C90EDFF-CE12-80FB-D5CB-3AA4EB71C0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531EFE5-3823-C67C-5F20-E127AD3B72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184644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7AB6-7780-685F-D11E-125C8BD00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6C36B21-6A80-941A-7242-6ED37C566E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34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D249E68-FDD0-ECD7-1ECD-522FACE743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ACB8C2F-36F2-3BCE-6D6D-5271622E8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85608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35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78040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334078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474211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7000276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E71E-0394-BE8E-EC29-195DAC93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4A9B1261-F2F1-F056-C3B8-D028DFAAC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39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46990A9-4EE3-462A-E0EE-9570471E1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B94277A-237A-88A7-F37A-EEC2AA243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298595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40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664928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41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1511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D15BB-FDE1-C71E-7B64-D4BE5A68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E721640-D228-9BDE-646F-40D85525C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42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F23B0CC-4CCB-9A8E-BFF2-BC0DA4338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B10BC2D-4708-8C9B-5E25-BC0BBC536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20082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12F0-D2F9-2497-6F8D-7BFC7A71E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5482C5E-28E0-8F99-0B21-C8841AD9E5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43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EAD05D5-EBA3-515B-B90D-75FBF2FF0A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BB07C7D-D792-C423-1345-E31D653B0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35793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74FD2-0CE8-A7AC-2ED2-69D82EB2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7D76514-8E71-3FD3-4428-F9861A49F7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44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3BB57BD-08B8-C755-0BDB-223C8B0E7A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87A725F-285B-B513-E262-6B20934D8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10423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FFC8-2746-04DA-D82B-0AA4A0FE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FAA9944-4D5C-5496-0CD5-571C030BB4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45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3B319D2-7F60-0995-EC4E-433094998F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B24280BA-4736-1FD2-57B7-DCFF5673D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866777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98075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0053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02E9-0E89-FE81-2AC2-37BDF32A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CD980AE-4392-7995-5BE1-A9AA438C7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A3A3E29-70F8-EFEF-7709-985EA2AC10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5CEC1A6-D6F9-9D52-5F45-D392E9433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2857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49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80651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50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24904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51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7343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3E9F-F282-A6CE-5C3F-6439E378A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723FABE-96B4-13D4-6E0C-5AD1DAD5A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52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D20747B-1B5A-E64B-1F02-8F9A853761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950F46D-3734-6A47-4F20-1BD562678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97529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10AB-95AC-4CC3-A96F-3098DF2D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208A500-966B-A203-F64C-86E8B02B7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53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1132B65-F844-C130-6162-9006454147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13DF6F9-BE58-09A5-4522-4DCDB4824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4132358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54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49735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55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333770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96395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E9C34-FBA0-3F76-637A-7D104520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46342AA-2AE6-0E79-0B0B-5A3B6A644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47C540E-270F-E12E-0374-A3397F6AF6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D52DC23-8C93-DBD1-A270-B42B92A5E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641198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417012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59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435423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69CC13B-F217-45BE-BF39-712C6EADB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ACEA-15F0-4FEB-BB34-16BE0451C50C}" type="slidenum">
              <a:rPr lang="en-US" altLang="en-US" sz="1200" smtClean="0"/>
              <a:pPr/>
              <a:t>60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1263294-659B-46AD-897E-F9D488ECA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3A28372-9ED2-4BA8-94B5-E6BAAD9F9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67236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618" y="261012"/>
            <a:ext cx="10515600" cy="137605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618" y="192881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02038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43025"/>
            <a:ext cx="12192000" cy="4351338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000"/>
            </a:lvl2pPr>
            <a:lvl3pPr marL="914400" indent="0">
              <a:buNone/>
              <a:defRPr/>
            </a:lvl3pPr>
          </a:lstStyle>
          <a:p>
            <a:pPr lvl="2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F35867-45AC-444B-B651-9D69680F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3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557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000"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557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000"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endParaRPr lang="en-US" dirty="0"/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39D5C2E7-7BF8-4DD1-A1D4-4DD7A441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00" y="450000"/>
            <a:ext cx="3654583" cy="40806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5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21EBD1AF-73C8-44FB-A03C-A17170E0E6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99200" y="830900"/>
            <a:ext cx="3772800" cy="307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err="1"/>
              <a:t>Subtitel</a:t>
            </a:r>
            <a:r>
              <a:rPr lang="de-DE" dirty="0"/>
              <a:t> bearbeiten</a:t>
            </a:r>
          </a:p>
        </p:txBody>
      </p:sp>
    </p:spTree>
    <p:extLst>
      <p:ext uri="{BB962C8B-B14F-4D97-AF65-F5344CB8AC3E}">
        <p14:creationId xmlns:p14="http://schemas.microsoft.com/office/powerpoint/2010/main" val="383410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3">
            <a:extLst>
              <a:ext uri="{FF2B5EF4-FFF2-40B4-BE49-F238E27FC236}">
                <a16:creationId xmlns:a16="http://schemas.microsoft.com/office/drawing/2014/main" id="{AD299EA3-D623-4765-872B-9FC85E63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00" y="450000"/>
            <a:ext cx="3654583" cy="40806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500" b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A8768B1B-597D-433C-9AFE-59A263822BA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99200" y="830900"/>
            <a:ext cx="3742320" cy="307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err="1"/>
              <a:t>Subtitel</a:t>
            </a:r>
            <a:r>
              <a:rPr lang="de-DE" dirty="0"/>
              <a:t> bearbeiten</a:t>
            </a:r>
          </a:p>
        </p:txBody>
      </p:sp>
    </p:spTree>
    <p:extLst>
      <p:ext uri="{BB962C8B-B14F-4D97-AF65-F5344CB8AC3E}">
        <p14:creationId xmlns:p14="http://schemas.microsoft.com/office/powerpoint/2010/main" val="327756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2">
            <a:extLst>
              <a:ext uri="{FF2B5EF4-FFF2-40B4-BE49-F238E27FC236}">
                <a16:creationId xmlns:a16="http://schemas.microsoft.com/office/drawing/2014/main" id="{2706C069-1162-4ACA-A6BC-33CE94EFAE7F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1150375"/>
            <a:ext cx="8117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el 3">
            <a:extLst>
              <a:ext uri="{FF2B5EF4-FFF2-40B4-BE49-F238E27FC236}">
                <a16:creationId xmlns:a16="http://schemas.microsoft.com/office/drawing/2014/main" id="{0135B7C1-B8AE-48CB-BD5B-6FCFEC7A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00" y="450000"/>
            <a:ext cx="3654583" cy="40806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500" b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F7BF3322-5569-4911-883C-996374E79A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1868" y="1520185"/>
            <a:ext cx="3716867" cy="4217911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8C4F"/>
              </a:buClr>
              <a:buFont typeface="Wingdings" panose="05000000000000000000" pitchFamily="2" charset="2"/>
              <a:buNone/>
              <a:defRPr sz="1200"/>
            </a:lvl1pPr>
            <a:lvl2pPr marL="685783" indent="-228594">
              <a:buClr>
                <a:srgbClr val="008C4F"/>
              </a:buClr>
              <a:buFont typeface="Wingdings" panose="05000000000000000000" pitchFamily="2" charset="2"/>
              <a:buChar char="§"/>
              <a:defRPr sz="1000"/>
            </a:lvl2pPr>
            <a:lvl3pPr marL="1142971" indent="-228594">
              <a:buClr>
                <a:srgbClr val="008C4F"/>
              </a:buClr>
              <a:buFont typeface="Wingdings" panose="05000000000000000000" pitchFamily="2" charset="2"/>
              <a:buChar char="§"/>
              <a:defRPr sz="1400"/>
            </a:lvl3pPr>
            <a:lvl4pPr marL="1600160" indent="-228594">
              <a:buClr>
                <a:srgbClr val="008C4F"/>
              </a:buClr>
              <a:buFont typeface="Wingdings" panose="05000000000000000000" pitchFamily="2" charset="2"/>
              <a:buChar char="§"/>
              <a:defRPr sz="1000"/>
            </a:lvl4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7F680953-6B83-445A-8583-F7CCE0E075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39670" y="0"/>
            <a:ext cx="3752328" cy="57076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1D93CDA5-10E3-437B-82BB-E2037302D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200" y="830900"/>
            <a:ext cx="3739535" cy="307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err="1"/>
              <a:t>Subtitel</a:t>
            </a:r>
            <a:r>
              <a:rPr lang="de-DE" dirty="0"/>
              <a:t> bearbeiten</a:t>
            </a:r>
          </a:p>
        </p:txBody>
      </p:sp>
    </p:spTree>
    <p:extLst>
      <p:ext uri="{BB962C8B-B14F-4D97-AF65-F5344CB8AC3E}">
        <p14:creationId xmlns:p14="http://schemas.microsoft.com/office/powerpoint/2010/main" val="343189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32E3-537A-405D-A60E-4365E81F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99" y="450000"/>
            <a:ext cx="5409871" cy="456902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52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BA1F5F-DA23-E804-9DDE-51C5F6FADC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43" y="67501"/>
            <a:ext cx="897848" cy="91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07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C490B-8B74-7D24-3F42-7FBECBA85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43" y="67501"/>
            <a:ext cx="897848" cy="91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9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9200" y="450000"/>
            <a:ext cx="3793120" cy="456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06048F43-F8A2-4FFE-95C5-3E8981B387FC}"/>
              </a:ext>
            </a:extLst>
          </p:cNvPr>
          <p:cNvSpPr txBox="1"/>
          <p:nvPr userDrawn="1"/>
        </p:nvSpPr>
        <p:spPr>
          <a:xfrm>
            <a:off x="373698" y="6394923"/>
            <a:ext cx="388209" cy="215425"/>
          </a:xfrm>
          <a:prstGeom prst="rect">
            <a:avLst/>
          </a:prstGeom>
          <a:noFill/>
        </p:spPr>
        <p:txBody>
          <a:bodyPr wrap="none" lIns="91421" tIns="45711" rIns="91421" bIns="45711" rtlCol="0">
            <a:spAutoFit/>
          </a:bodyPr>
          <a:lstStyle/>
          <a:p>
            <a:pPr algn="ctr"/>
            <a:fld id="{260E2A6B-A809-4840-BF14-8648BC0BDF87}" type="slidenum">
              <a:rPr lang="id-ID" sz="8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ctr"/>
              <a:t>‹#›</a:t>
            </a:fld>
            <a:endParaRPr lang="id-ID" sz="8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E6A93A2C-F960-4D49-8612-0D4EEAC004B2}"/>
              </a:ext>
            </a:extLst>
          </p:cNvPr>
          <p:cNvSpPr txBox="1">
            <a:spLocks/>
          </p:cNvSpPr>
          <p:nvPr userDrawn="1"/>
        </p:nvSpPr>
        <p:spPr>
          <a:xfrm>
            <a:off x="821868" y="1520185"/>
            <a:ext cx="10492932" cy="42179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C4F"/>
              </a:buClr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C4F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C4F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C4F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B0C97B2-DC52-4C3B-8DFC-1446D3042532}"/>
              </a:ext>
            </a:extLst>
          </p:cNvPr>
          <p:cNvSpPr txBox="1">
            <a:spLocks/>
          </p:cNvSpPr>
          <p:nvPr userDrawn="1"/>
        </p:nvSpPr>
        <p:spPr>
          <a:xfrm>
            <a:off x="799200" y="811332"/>
            <a:ext cx="10515600" cy="456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1CAB64D-29C4-47C3-AE6F-9D4A099E5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9200" y="830900"/>
            <a:ext cx="3793120" cy="307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err="1"/>
              <a:t>Subtitel</a:t>
            </a:r>
            <a:r>
              <a:rPr lang="de-DE" dirty="0"/>
              <a:t> bearbeiten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FFBE4-9BD2-447D-9B22-3DC42AE490E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009" y="57857"/>
            <a:ext cx="981791" cy="100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9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4" r:id="rId2"/>
    <p:sldLayoutId id="2147483706" r:id="rId3"/>
    <p:sldLayoutId id="2147483722" r:id="rId4"/>
    <p:sldLayoutId id="2147483723" r:id="rId5"/>
    <p:sldLayoutId id="2147483728" r:id="rId6"/>
    <p:sldLayoutId id="2147483729" r:id="rId7"/>
    <p:sldLayoutId id="2147483730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500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9A1D9BC-1455-4308-9ABD-A3F8EDB6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1A820EE-BBF5-5CD2-03CF-736222109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672" y="1799771"/>
            <a:ext cx="6168155" cy="29160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b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/>
            </a:b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3A410-57EF-95B7-FE9B-B738B23CA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28" y="721777"/>
            <a:ext cx="4323877" cy="876921"/>
          </a:xfrm>
          <a:prstGeom prst="rect">
            <a:avLst/>
          </a:prstGeom>
        </p:spPr>
      </p:pic>
      <p:pic>
        <p:nvPicPr>
          <p:cNvPr id="3" name="Picture 2" descr="Text&#10;&#10;Description automatically generated with medium confidence">
            <a:extLst>
              <a:ext uri="{FF2B5EF4-FFF2-40B4-BE49-F238E27FC236}">
                <a16:creationId xmlns:a16="http://schemas.microsoft.com/office/drawing/2014/main" id="{3361BAFF-F87F-4DE0-8511-B90EAE302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28" y="5219734"/>
            <a:ext cx="4460786" cy="9164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60FD10-D3D1-89EA-7FB8-F638B6F030CB}"/>
              </a:ext>
            </a:extLst>
          </p:cNvPr>
          <p:cNvSpPr txBox="1"/>
          <p:nvPr/>
        </p:nvSpPr>
        <p:spPr>
          <a:xfrm>
            <a:off x="5296068" y="3072873"/>
            <a:ext cx="6250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Profile </a:t>
            </a:r>
            <a:endParaRPr lang="en-IN" sz="40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06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76174"/>
            <a:ext cx="305173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About Company 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064D8F2-EDB7-0170-14AC-127F87FD341D}"/>
              </a:ext>
            </a:extLst>
          </p:cNvPr>
          <p:cNvSpPr txBox="1">
            <a:spLocks/>
          </p:cNvSpPr>
          <p:nvPr/>
        </p:nvSpPr>
        <p:spPr>
          <a:xfrm>
            <a:off x="177800" y="840388"/>
            <a:ext cx="12014200" cy="108523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  <a:defRPr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Usha Consulting is a company based in Pune (Maharashtra). It was incorporated  in Oct 2020. We provides specialises services in Safety, Environment &amp; Industrial Hygiene and Electrical Safety. Usha Consulting has executed more than 200 projects in the last 4 years</a:t>
            </a: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IN" sz="2000" dirty="0">
              <a:solidFill>
                <a:srgbClr val="2006B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D82E2-5725-3B46-CE7B-FA2484118181}"/>
              </a:ext>
            </a:extLst>
          </p:cNvPr>
          <p:cNvSpPr txBox="1"/>
          <p:nvPr/>
        </p:nvSpPr>
        <p:spPr>
          <a:xfrm>
            <a:off x="177800" y="1818956"/>
            <a:ext cx="119634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Hazard Assessment (PHA)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Management</a:t>
            </a: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 (PSM)</a:t>
            </a: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 Based Safety   </a:t>
            </a: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Audits 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Construction Safety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 Compliance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 prevention and Fire Fighting  </a:t>
            </a: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Safety</a:t>
            </a: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Preparation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Hygiene</a:t>
            </a: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Consulting Services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0850" lvl="1" indent="-450850">
              <a:spcBef>
                <a:spcPts val="200"/>
              </a:spcBef>
              <a:spcAft>
                <a:spcPts val="400"/>
              </a:spcAft>
              <a:buFont typeface="Courier New" panose="02070309020205020404" pitchFamily="49" charset="0"/>
              <a:buChar char="­"/>
              <a:defRPr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Inspection Services 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7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3" y="150814"/>
            <a:ext cx="4951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9546D04-BB77-4279-8C21-AB71D8F0A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671"/>
            <a:ext cx="4951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Brief Profile   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992D8D1C-8E7F-0AE4-DAE3-DAC3E2354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8" y="674689"/>
            <a:ext cx="1537698" cy="118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8A8B2BC6-FC5E-F7BA-B141-DE34B1443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737" y="674689"/>
            <a:ext cx="96273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en-US" alt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am Ritesh Sharma, a qualified Chemical Engineer with diploma in Industrial Safety. </a:t>
            </a:r>
            <a:r>
              <a:rPr 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NEBOSH International General certificate in Occupational Health &amp; Safety. </a:t>
            </a:r>
            <a:r>
              <a:rPr lang="en-US" alt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Having worked in a number of industries (Construction, Consultancy, Oil &amp; Gas, FMCG &amp; Chemical) over 29 years as an HSE Professional 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&amp; which included 6 years as Utility Engineer </a:t>
            </a:r>
            <a:r>
              <a:rPr lang="en-US" alt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certified ISO 9001:2015, ISO 14001:2015, ISO 45001:2015,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&amp; CE marking for PPE Certification </a:t>
            </a:r>
            <a:r>
              <a:rPr lang="en-US" altLang="en-US" sz="1400" dirty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auditor, as well as 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pproved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Pharmaceutical Supply Chain Initiative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(PSCI) Auditor</a:t>
            </a:r>
            <a:endParaRPr lang="en-US" altLang="en-US" sz="1400" dirty="0">
              <a:solidFill>
                <a:schemeClr val="tx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12AB5-D501-64AD-3B65-4AAAE3B28FAC}"/>
              </a:ext>
            </a:extLst>
          </p:cNvPr>
          <p:cNvSpPr txBox="1"/>
          <p:nvPr/>
        </p:nvSpPr>
        <p:spPr bwMode="gray">
          <a:xfrm>
            <a:off x="71038" y="1934027"/>
            <a:ext cx="12049924" cy="468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Brief Overview of Work</a:t>
            </a:r>
          </a:p>
          <a:p>
            <a:endParaRPr lang="en-US" sz="1300" b="1" dirty="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</a:t>
            </a:r>
            <a:r>
              <a:rPr lang="en-US" altLang="en-US" sz="1300" b="1" dirty="0">
                <a:solidFill>
                  <a:srgbClr val="3366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HSE Training more than 1200+ man-hours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LOTO, PSM, Lifting Tools and Tackle, Scaffolding, PHA, Dust Hazard Assessment, Machine Guarding, Incident Investigation etc.)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conducted</a:t>
            </a:r>
            <a:r>
              <a:rPr lang="en-US" alt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300+ Audits ( Safety, Enviroment, Fire &amp; Electrical Safety),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conducted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250+ PHA Studies { HAZOP, HAZID/ENVID, BowTie, WhatIF, FEMA, Dust Hazard Analysis (DHA), HIRA etc.}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 PHA Facilitator / Chairman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conducted </a:t>
            </a:r>
            <a:r>
              <a:rPr lang="en-US" altLang="en-US" sz="13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100+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system Audit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ISO 9001, 14001 &amp; ISO 45001 / OHSAS 18001 &amp; PPE Certification)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conducted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Number Pharmaceutical Supply Chain Audit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(PSCI)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conducted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numbers of EHS Due Diligence Audit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acquisition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 Load Calculation &amp; Fire Audit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company 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</a:t>
            </a:r>
            <a:r>
              <a:rPr lang="en-US" altLang="en-US" sz="13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Perception survey 10+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Incident Investigation for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5+ incident  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</a:t>
            </a:r>
            <a:r>
              <a:rPr lang="en-US" altLang="en-US" sz="13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 Base Safety 5+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</a:t>
            </a:r>
            <a:r>
              <a:rPr lang="en-US" altLang="en-US" sz="1300" b="1" dirty="0">
                <a:solidFill>
                  <a:srgbClr val="003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 (PSM )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10+ companies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Hygiene Program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3 companies.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Aided in approval of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Clearance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3 companies.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more than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200+ Crane Inspection </a:t>
            </a: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per ASME 30.5 and API 2D standard  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assessment of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Goods / Passenger Lift more than 50+ </a:t>
            </a:r>
          </a:p>
          <a:p>
            <a:pPr marL="278598" indent="-278598" algn="just">
              <a:spcBef>
                <a:spcPts val="244"/>
              </a:spcBef>
              <a:spcAft>
                <a:spcPts val="244"/>
              </a:spcAft>
              <a:buFont typeface="Courier New" panose="02070309020205020404" pitchFamily="49" charset="0"/>
              <a:buChar char="­"/>
            </a:pPr>
            <a:r>
              <a:rPr lang="en-US" alt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Designing of </a:t>
            </a:r>
            <a:r>
              <a:rPr lang="en-US" altLang="en-US" sz="13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Effluent Treatment Plant, Multiple Effect Evaporator and Incinerator     </a:t>
            </a:r>
            <a:endParaRPr lang="en-IN" sz="1300" b="1" dirty="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1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77B3092-B327-3356-87FB-12FE6698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90850A5D-B92C-0C1B-B0CA-07595EBEB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29029"/>
            <a:ext cx="63367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– Standard Preparation 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5342E7-278D-AAC1-72D7-1E2373B13B9C}"/>
              </a:ext>
            </a:extLst>
          </p:cNvPr>
          <p:cNvSpPr txBox="1">
            <a:spLocks/>
          </p:cNvSpPr>
          <p:nvPr/>
        </p:nvSpPr>
        <p:spPr>
          <a:xfrm>
            <a:off x="0" y="836712"/>
            <a:ext cx="11100110" cy="51845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HSE Manual ( Construction / Process)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Contractor Safety Management (CSM)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Legal Register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Management of Change (MOC)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 Integrity / Asset Integrity Management 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Pre-Start Safety Review (PSSR)    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Electrical Safety Manual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 Out &amp; Tagout (LOTO)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Guarding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 to Work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Confined Space Permit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Hot work Permit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at Height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Excavation Safety  </a:t>
            </a:r>
            <a:endParaRPr lang="en-IN" sz="2000" dirty="0">
              <a:solidFill>
                <a:srgbClr val="2006BA"/>
              </a:solidFill>
            </a:endParaRP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Scaffolding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 Handling standard (Lifting Tools and Tackle, including EOT etc)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Enviroment Procedure </a:t>
            </a:r>
          </a:p>
          <a:p>
            <a:pPr marL="536575" lvl="1" indent="-449263">
              <a:spcBef>
                <a:spcPts val="100"/>
              </a:spcBef>
              <a:spcAft>
                <a:spcPts val="1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 Prevention &amp; Fire Fighting Manual</a:t>
            </a:r>
          </a:p>
        </p:txBody>
      </p:sp>
    </p:spTree>
    <p:extLst>
      <p:ext uri="{BB962C8B-B14F-4D97-AF65-F5344CB8AC3E}">
        <p14:creationId xmlns:p14="http://schemas.microsoft.com/office/powerpoint/2010/main" val="303143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- Audit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142F26-2286-479B-98DF-661D1A8B6DE4}"/>
              </a:ext>
            </a:extLst>
          </p:cNvPr>
          <p:cNvSpPr txBox="1">
            <a:spLocks/>
          </p:cNvSpPr>
          <p:nvPr/>
        </p:nvSpPr>
        <p:spPr>
          <a:xfrm>
            <a:off x="0" y="1063133"/>
            <a:ext cx="12192000" cy="561662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HSE Due Diligence audit during acquisition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Legal compliance audit.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Pharmaceutical Supply Chain Initiative audit  (HSE) 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14489:2018 Occupational Health and Safety audit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Safety Management Gap assessment audit as per 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 CFR 1910.119 ( 14 elements) 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Safety Management Gap assessment audit as per 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Centre for Chemical Porcess Safety (CCPS) – 20 Elements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Risk Audit ( Water audit, Environmental Due Diligence)  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Electrical Safety audit 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Oil Industry Safety Directorate audit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Facility Physical Security Audit </a:t>
            </a:r>
          </a:p>
          <a:p>
            <a:pPr marL="536575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Corporate Security audit. </a:t>
            </a:r>
          </a:p>
          <a:p>
            <a:pPr marL="1189923" lvl="1" indent="-552953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endParaRPr lang="en-IN" sz="2000" dirty="0">
              <a:solidFill>
                <a:srgbClr val="2006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80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- Audit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142F26-2286-479B-98DF-661D1A8B6DE4}"/>
              </a:ext>
            </a:extLst>
          </p:cNvPr>
          <p:cNvSpPr txBox="1">
            <a:spLocks/>
          </p:cNvSpPr>
          <p:nvPr/>
        </p:nvSpPr>
        <p:spPr>
          <a:xfrm>
            <a:off x="58056" y="1327944"/>
            <a:ext cx="12133943" cy="460851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Fire Prevention and Fire Fighting audit </a:t>
            </a:r>
          </a:p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FM global standard. </a:t>
            </a:r>
          </a:p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Business continuity Management Program audit. </a:t>
            </a:r>
          </a:p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 Audit. </a:t>
            </a:r>
          </a:p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Warehouse audit </a:t>
            </a:r>
          </a:p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Schedule XIX (Chemical Works) of Rule 102 of The Gujarat Factories Rules 1963</a:t>
            </a:r>
          </a:p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Schedule XIV, Processes Involving Manufacture, Use Or Evolution Of Carbon Disulphide And Hydrogen Sulphide of Rule 102 of The Gujarat Factories Rules 1963</a:t>
            </a:r>
          </a:p>
          <a:p>
            <a:pPr marL="355600" lvl="1" indent="-355600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Construction SHE audit  </a:t>
            </a:r>
          </a:p>
          <a:p>
            <a:pPr marL="1189923" lvl="1" indent="-552953">
              <a:spcBef>
                <a:spcPts val="600"/>
              </a:spcBef>
              <a:spcAft>
                <a:spcPts val="600"/>
              </a:spcAft>
              <a:buClrTx/>
              <a:buFont typeface="Courier New" panose="02070309020205020404" pitchFamily="49" charset="0"/>
              <a:buChar char="­"/>
              <a:defRPr/>
            </a:pPr>
            <a:endParaRPr lang="en-GB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89923" lvl="1" indent="-552953">
              <a:spcBef>
                <a:spcPts val="300"/>
              </a:spcBef>
              <a:buClrTx/>
              <a:buFontTx/>
              <a:buChar char="•"/>
              <a:defRPr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22041" indent="-422041">
              <a:spcBef>
                <a:spcPts val="300"/>
              </a:spcBef>
              <a:defRPr/>
            </a:pPr>
            <a:endParaRPr lang="en-IN" sz="2000" dirty="0">
              <a:solidFill>
                <a:srgbClr val="2006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72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0483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– Process Safety Management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9683D-867B-42AA-B587-7E8E7C3F17DE}"/>
              </a:ext>
            </a:extLst>
          </p:cNvPr>
          <p:cNvSpPr txBox="1"/>
          <p:nvPr/>
        </p:nvSpPr>
        <p:spPr>
          <a:xfrm>
            <a:off x="0" y="523220"/>
            <a:ext cx="12141200" cy="611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3888" lvl="1" indent="-442913">
              <a:spcBef>
                <a:spcPts val="100"/>
              </a:spcBef>
              <a:spcAft>
                <a:spcPts val="100"/>
              </a:spcAft>
              <a:buSzPct val="80000"/>
              <a:defRPr/>
            </a:pPr>
            <a:r>
              <a:rPr lang="en-US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 (PSM) Implementation standard  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SzPct val="80000"/>
              <a:defRPr/>
            </a:pPr>
            <a:endParaRPr lang="en-US" dirty="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per </a:t>
            </a: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OSHA 29 CFR 1910.119, effective 1992 -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14 Elements or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Centre for Chemical Process Safety (CCPS) – 20 Elements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SzPct val="80000"/>
              <a:defRPr/>
            </a:pPr>
            <a:endParaRPr lang="en-US" dirty="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SzPct val="80000"/>
              <a:defRPr/>
            </a:pPr>
            <a:r>
              <a:rPr lang="en-US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in PSM Implementation 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Assessment ( 3 to 5 Days) 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 map development 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Formation of Apex Committee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PSM Training for Steering committee and Element Champion 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 element wise PSM Procedure </a:t>
            </a:r>
          </a:p>
          <a:p>
            <a:pPr marL="623888" lvl="1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 wise training for Champion  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3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(Handholding 6/12/18 month)   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Launching PSM implementation 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PSM awareness Training for employee  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 (KPI) for each element 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and competence development</a:t>
            </a:r>
          </a:p>
          <a:p>
            <a:pPr marL="623888" indent="-442913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§"/>
              <a:tabLst>
                <a:tab pos="1255713" algn="l"/>
              </a:tabLst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progress    </a:t>
            </a:r>
            <a:endParaRPr lang="en-US" b="1" dirty="0">
              <a:solidFill>
                <a:srgbClr val="2006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45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51A30BE-44D8-D409-7551-799C14E3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5E80910D-CC2E-8B36-29AD-43A32513A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728"/>
            <a:ext cx="718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– Process Hazard Analysis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3B607-4C80-1F74-6D68-1F64659BDC77}"/>
              </a:ext>
            </a:extLst>
          </p:cNvPr>
          <p:cNvSpPr txBox="1"/>
          <p:nvPr/>
        </p:nvSpPr>
        <p:spPr>
          <a:xfrm>
            <a:off x="0" y="877445"/>
            <a:ext cx="12104914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Hazard Identification (HAZID) </a:t>
            </a:r>
          </a:p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Hazard and Operability (HAZOP)</a:t>
            </a:r>
          </a:p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Layer of Protection Analysis (LOPA)</a:t>
            </a:r>
          </a:p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BowTie Analysis </a:t>
            </a:r>
          </a:p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Hazard Identification &amp; Risk Analysis (HIRA)  </a:t>
            </a:r>
          </a:p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Dust Hazard Assessment (DHA)</a:t>
            </a:r>
          </a:p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Quantitative Risk Analysis (QRA)  </a:t>
            </a:r>
          </a:p>
          <a:p>
            <a:pPr marL="536575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Simultaneous Operation (SIMPOS)  </a:t>
            </a:r>
          </a:p>
        </p:txBody>
      </p:sp>
    </p:spTree>
    <p:extLst>
      <p:ext uri="{BB962C8B-B14F-4D97-AF65-F5344CB8AC3E}">
        <p14:creationId xmlns:p14="http://schemas.microsoft.com/office/powerpoint/2010/main" val="17406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3ADBECE-D1F9-57D8-628F-F958A39C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E2CE4427-FCBF-E280-6955-562E53702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1135" y="60759"/>
            <a:ext cx="61041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- Risk Management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868F4-E593-63ED-2CA5-A6E637CC8A04}"/>
              </a:ext>
            </a:extLst>
          </p:cNvPr>
          <p:cNvSpPr txBox="1"/>
          <p:nvPr/>
        </p:nvSpPr>
        <p:spPr>
          <a:xfrm>
            <a:off x="0" y="983333"/>
            <a:ext cx="12192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750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 Design Safety Review</a:t>
            </a:r>
          </a:p>
          <a:p>
            <a:pPr marL="539750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Hazardous Area Classification (HAC) </a:t>
            </a:r>
          </a:p>
          <a:p>
            <a:pPr marL="539750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Highly Hazardous Chemicals (HHC) </a:t>
            </a:r>
          </a:p>
          <a:p>
            <a:pPr marL="539750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Dust Hazard Analysis (DHA) NFPA/ATEX  </a:t>
            </a:r>
          </a:p>
          <a:p>
            <a:pPr marL="539750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Dryer Vent Assessment </a:t>
            </a:r>
          </a:p>
          <a:p>
            <a:pPr marL="539750" lvl="1" indent="-44926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Chemical Reaction Hazard (CRH)</a:t>
            </a:r>
          </a:p>
          <a:p>
            <a:pPr marL="539750" indent="-449263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Pre-Start up Safety Review (PSSR)</a:t>
            </a:r>
          </a:p>
          <a:p>
            <a:pPr marL="539750" indent="-449263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Layout review and Facility Siting</a:t>
            </a:r>
          </a:p>
          <a:p>
            <a:pPr marL="539750" indent="-449263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Model Review (30%, 60% and 90%)  </a:t>
            </a:r>
          </a:p>
          <a:p>
            <a:pPr marL="539750" indent="-449263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Transport Risk Management</a:t>
            </a:r>
          </a:p>
          <a:p>
            <a:pPr marL="539750" indent="-449263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Fire Prevention and Fighting system adequacy review </a:t>
            </a:r>
          </a:p>
          <a:p>
            <a:pPr marL="539750" indent="-449263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Safety Report as per Schedule 8{Rule 10(1)} of MSIHC Rule 1989</a:t>
            </a:r>
          </a:p>
          <a:p>
            <a:pPr marL="539750" indent="-449263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­"/>
              <a:tabLst>
                <a:tab pos="1255713" algn="l"/>
              </a:tabLst>
              <a:defRPr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Goods and Passenger Lift Management    </a:t>
            </a:r>
            <a:endParaRPr lang="en-US" sz="2000" b="1" dirty="0">
              <a:solidFill>
                <a:srgbClr val="2006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38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8364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- Training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32131-8C4B-4D8D-9FB2-EA358164C7E3}"/>
              </a:ext>
            </a:extLst>
          </p:cNvPr>
          <p:cNvSpPr txBox="1"/>
          <p:nvPr/>
        </p:nvSpPr>
        <p:spPr>
          <a:xfrm>
            <a:off x="147612" y="1169008"/>
            <a:ext cx="6912769" cy="366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  <a:buSzPct val="90000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We provide training courses to various industries</a:t>
            </a:r>
          </a:p>
          <a:p>
            <a:pPr marL="984763" lvl="1" indent="-422041">
              <a:lnSpc>
                <a:spcPct val="130000"/>
              </a:lnSpc>
              <a:buSzPct val="10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In-company, open courses, </a:t>
            </a:r>
          </a:p>
          <a:p>
            <a:pPr marL="984763" lvl="1" indent="-422041">
              <a:lnSpc>
                <a:spcPct val="130000"/>
              </a:lnSpc>
              <a:buSzPct val="10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Face to face, Webinars, </a:t>
            </a:r>
          </a:p>
          <a:p>
            <a:pPr marL="984763" lvl="1" indent="-422041">
              <a:lnSpc>
                <a:spcPct val="130000"/>
              </a:lnSpc>
              <a:buSzPct val="10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Managers, Engineers, Operators</a:t>
            </a:r>
          </a:p>
          <a:p>
            <a:pPr marL="984763" lvl="1" indent="-422041">
              <a:lnSpc>
                <a:spcPct val="130000"/>
              </a:lnSpc>
              <a:buSzPct val="10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Customized training programs</a:t>
            </a:r>
          </a:p>
          <a:p>
            <a:pPr eaLnBrk="1" hangingPunct="1">
              <a:lnSpc>
                <a:spcPct val="130000"/>
              </a:lnSpc>
              <a:buSzPct val="90000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Our lecturers:</a:t>
            </a:r>
          </a:p>
          <a:p>
            <a:pPr marL="984763" lvl="1" indent="-422041">
              <a:lnSpc>
                <a:spcPct val="130000"/>
              </a:lnSpc>
              <a:buSzPct val="10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Knowledge and comprehension of industrial incidents</a:t>
            </a:r>
          </a:p>
          <a:p>
            <a:pPr marL="984763" lvl="1" indent="-422041">
              <a:lnSpc>
                <a:spcPct val="130000"/>
              </a:lnSpc>
              <a:buSzPct val="10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Experienced international trainers</a:t>
            </a:r>
          </a:p>
          <a:p>
            <a:pPr marL="562722" lvl="1">
              <a:lnSpc>
                <a:spcPct val="130000"/>
              </a:lnSpc>
              <a:buSzPct val="100000"/>
              <a:defRPr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5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- Training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9683D-867B-42AA-B587-7E8E7C3F17DE}"/>
              </a:ext>
            </a:extLst>
          </p:cNvPr>
          <p:cNvSpPr txBox="1"/>
          <p:nvPr/>
        </p:nvSpPr>
        <p:spPr>
          <a:xfrm>
            <a:off x="0" y="749393"/>
            <a:ext cx="12122727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Process Safety Management as per OSHA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as per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29 CFR 1910.119 (14 element) / Centre for Chemical Porcess Safety (CCPS) – 20 Elements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Process Hazard Assessment Leader 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Chemical Reaction Hazard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Chemical Hazard Communication / HAZMAT 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Hazard Identification and Risk Assessment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HAZOP as per I chem &amp; CCPS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Dust Hazard Assessment (DHA)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Hazardous Area Classification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Incident Investigation &amp; Root cause Analysis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Boiler Safety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Industrial Hygiene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Legal Legislation ( Environment, Safety, Industrial Hygiene, Electrical etc.)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Electrical Safety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Lock out and Tag Out (LOTO)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Machine Guarding 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Permit to work </a:t>
            </a:r>
          </a:p>
        </p:txBody>
      </p:sp>
    </p:spTree>
    <p:extLst>
      <p:ext uri="{BB962C8B-B14F-4D97-AF65-F5344CB8AC3E}">
        <p14:creationId xmlns:p14="http://schemas.microsoft.com/office/powerpoint/2010/main" val="2139882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C5BDDBF-38D4-5F91-5858-99CD5FD5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4208B147-9EBA-9208-FD16-7B7222382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7685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- Training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801FC-1149-C915-9D05-3C29E76A09C0}"/>
              </a:ext>
            </a:extLst>
          </p:cNvPr>
          <p:cNvSpPr txBox="1"/>
          <p:nvPr/>
        </p:nvSpPr>
        <p:spPr>
          <a:xfrm>
            <a:off x="0" y="1369939"/>
            <a:ext cx="8980899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6970" lvl="1">
              <a:spcBef>
                <a:spcPts val="300"/>
              </a:spcBef>
              <a:spcAft>
                <a:spcPts val="300"/>
              </a:spcAft>
              <a:buSzPct val="80000"/>
              <a:defRPr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Safety Leadership – Construction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Work at Height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Scaffolding Inspector &amp; Supervisors 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Excavation Safety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Inspection of Lifting Tools and Tackle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Crane Operator/</a:t>
            </a: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S</a:t>
            </a: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</a:rPr>
              <a:t>ignallers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latin typeface="Calibri" panose="020F0502020204030204" pitchFamily="34" charset="0"/>
                <a:ea typeface="Malgun Gothic" panose="020B0503020000020004" pitchFamily="34" charset="-127"/>
              </a:rPr>
              <a:t>Certification as per </a:t>
            </a: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</a:rPr>
              <a:t>IS 16866:2018 / ISO 15513 : 2000   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Welding and Gas Cutting Safety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20725" lvl="1" indent="-450850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Behaviour Base Safety </a:t>
            </a:r>
          </a:p>
          <a:p>
            <a:pPr marL="1189923" lvl="1" indent="-552953">
              <a:spcBef>
                <a:spcPts val="300"/>
              </a:spcBef>
              <a:spcAft>
                <a:spcPts val="300"/>
              </a:spcAft>
              <a:buSzPct val="80000"/>
              <a:buFont typeface="Courier New" panose="02070309020205020404" pitchFamily="49" charset="0"/>
              <a:buChar char="­"/>
              <a:defRPr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598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EEE0C26B-3CDA-4023-BB30-11B62BCDC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759"/>
            <a:ext cx="62481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HSE Service - Industrial Hygiene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432EF-CB79-4170-A6EF-8F576CA2AACB}"/>
              </a:ext>
            </a:extLst>
          </p:cNvPr>
          <p:cNvSpPr txBox="1"/>
          <p:nvPr/>
        </p:nvSpPr>
        <p:spPr>
          <a:xfrm>
            <a:off x="-1" y="1425352"/>
            <a:ext cx="8980921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9750" lvl="1" indent="-360363">
              <a:lnSpc>
                <a:spcPct val="150000"/>
              </a:lnSpc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Safety During Transportation of chemicals  </a:t>
            </a:r>
            <a:endParaRPr lang="en-US" sz="2000" b="1" dirty="0">
              <a:solidFill>
                <a:srgbClr val="2006BA"/>
              </a:solidFill>
            </a:endParaRPr>
          </a:p>
          <a:p>
            <a:pPr marL="539750" lvl="1" indent="-360363">
              <a:lnSpc>
                <a:spcPct val="150000"/>
              </a:lnSpc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Chemical Risk assessment </a:t>
            </a:r>
          </a:p>
          <a:p>
            <a:pPr marL="539750" lvl="1" indent="-360363">
              <a:lnSpc>
                <a:spcPct val="150000"/>
              </a:lnSpc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Qualitative exposure assessment (Industrial Hygiene Risk Assessment)</a:t>
            </a:r>
          </a:p>
          <a:p>
            <a:pPr marL="539750" lvl="1" indent="-360363">
              <a:lnSpc>
                <a:spcPct val="150000"/>
              </a:lnSpc>
              <a:buSzPct val="80000"/>
              <a:buFont typeface="Courier New" panose="02070309020205020404" pitchFamily="49" charset="0"/>
              <a:buChar char="­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Task based Qualitative Industrial Hygiene Risk Assessment  </a:t>
            </a:r>
          </a:p>
          <a:p>
            <a:pPr marL="1189923" lvl="1" indent="-552953">
              <a:lnSpc>
                <a:spcPct val="150000"/>
              </a:lnSpc>
              <a:buSzPct val="80000"/>
              <a:buFont typeface="Courier New" panose="02070309020205020404" pitchFamily="49" charset="0"/>
              <a:buChar char="­"/>
              <a:defRPr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999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27709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Sector we work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9683D-867B-42AA-B587-7E8E7C3F17DE}"/>
              </a:ext>
            </a:extLst>
          </p:cNvPr>
          <p:cNvSpPr txBox="1"/>
          <p:nvPr/>
        </p:nvSpPr>
        <p:spPr>
          <a:xfrm>
            <a:off x="112796" y="623881"/>
            <a:ext cx="12079204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Chemical Industry (Bulk chemistry, Fine chemistry)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Pharmaceuticals (API &amp; Formulation) 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Agrochemicals Industry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Cosmetic Industry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Oil &amp; Gas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Citi Gas Distribution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Cross country Pipeline 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Petrochemical Industry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Power Generation 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Steel / Aluminums 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Logistics and Ware housing 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Education Industry 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Construction (Industrial Project, Metro project, Road Projects etc.)</a:t>
            </a:r>
          </a:p>
          <a:p>
            <a:pPr marL="422041" indent="-42204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Others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913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535"/>
            <a:ext cx="66769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Technical Support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2644899" y="1749335"/>
            <a:ext cx="6500577" cy="795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CSR Gap Assessment &amp; Technical Support  </a:t>
            </a:r>
            <a:endParaRPr lang="en-IN" dirty="0">
              <a:solidFill>
                <a:srgbClr val="0033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81133-2D62-4B4C-994A-8F1B5CC810A1}"/>
              </a:ext>
            </a:extLst>
          </p:cNvPr>
          <p:cNvSpPr txBox="1"/>
          <p:nvPr/>
        </p:nvSpPr>
        <p:spPr>
          <a:xfrm>
            <a:off x="279396" y="2544681"/>
            <a:ext cx="11912604" cy="285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Herbert Brown Pharmaceutical &amp; Research Laboratories , Dombivli East, Thane 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Symbiotec Pharma Private Limited Rau Indore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Symbiotec Pharma Private Limited SEZ Pithampur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AC48C9-4428-A2F4-BFD0-17799E42AFEA}"/>
              </a:ext>
            </a:extLst>
          </p:cNvPr>
          <p:cNvGrpSpPr>
            <a:grpSpLocks/>
          </p:cNvGrpSpPr>
          <p:nvPr/>
        </p:nvGrpSpPr>
        <p:grpSpPr bwMode="auto">
          <a:xfrm>
            <a:off x="252199" y="1143087"/>
            <a:ext cx="2160240" cy="1008112"/>
            <a:chOff x="0" y="0"/>
            <a:chExt cx="4064" cy="962"/>
          </a:xfrm>
        </p:grpSpPr>
        <p:sp>
          <p:nvSpPr>
            <p:cNvPr id="3" name="AutoShape 8">
              <a:extLst>
                <a:ext uri="{FF2B5EF4-FFF2-40B4-BE49-F238E27FC236}">
                  <a16:creationId xmlns:a16="http://schemas.microsoft.com/office/drawing/2014/main" id="{5C81DE69-7B03-CF66-3F36-B5B51FE75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11"/>
              <a:ext cx="4064" cy="420"/>
            </a:xfrm>
            <a:custGeom>
              <a:avLst/>
              <a:gdLst>
                <a:gd name="T0" fmla="*/ 3851 w 4064"/>
                <a:gd name="T1" fmla="*/ 1218 h 420"/>
                <a:gd name="T2" fmla="*/ 3771 w 4064"/>
                <a:gd name="T3" fmla="*/ 1157 h 420"/>
                <a:gd name="T4" fmla="*/ 3662 w 4064"/>
                <a:gd name="T5" fmla="*/ 956 h 420"/>
                <a:gd name="T6" fmla="*/ 3893 w 4064"/>
                <a:gd name="T7" fmla="*/ 1086 h 420"/>
                <a:gd name="T8" fmla="*/ 3935 w 4064"/>
                <a:gd name="T9" fmla="*/ 1156 h 420"/>
                <a:gd name="T10" fmla="*/ 4056 w 4064"/>
                <a:gd name="T11" fmla="*/ 1085 h 420"/>
                <a:gd name="T12" fmla="*/ 3766 w 4064"/>
                <a:gd name="T13" fmla="*/ 1009 h 420"/>
                <a:gd name="T14" fmla="*/ 3849 w 4064"/>
                <a:gd name="T15" fmla="*/ 941 h 420"/>
                <a:gd name="T16" fmla="*/ 3846 w 4064"/>
                <a:gd name="T17" fmla="*/ 893 h 420"/>
                <a:gd name="T18" fmla="*/ 3986 w 4064"/>
                <a:gd name="T19" fmla="*/ 975 h 420"/>
                <a:gd name="T20" fmla="*/ 3553 w 4064"/>
                <a:gd name="T21" fmla="*/ 901 h 420"/>
                <a:gd name="T22" fmla="*/ 3452 w 4064"/>
                <a:gd name="T23" fmla="*/ 846 h 420"/>
                <a:gd name="T24" fmla="*/ 3555 w 4064"/>
                <a:gd name="T25" fmla="*/ 846 h 420"/>
                <a:gd name="T26" fmla="*/ 3077 w 4064"/>
                <a:gd name="T27" fmla="*/ 893 h 420"/>
                <a:gd name="T28" fmla="*/ 2821 w 4064"/>
                <a:gd name="T29" fmla="*/ 1103 h 420"/>
                <a:gd name="T30" fmla="*/ 3166 w 4064"/>
                <a:gd name="T31" fmla="*/ 1206 h 420"/>
                <a:gd name="T32" fmla="*/ 3085 w 4064"/>
                <a:gd name="T33" fmla="*/ 1162 h 420"/>
                <a:gd name="T34" fmla="*/ 2965 w 4064"/>
                <a:gd name="T35" fmla="*/ 980 h 420"/>
                <a:gd name="T36" fmla="*/ 3236 w 4064"/>
                <a:gd name="T37" fmla="*/ 938 h 420"/>
                <a:gd name="T38" fmla="*/ 3249 w 4064"/>
                <a:gd name="T39" fmla="*/ 1164 h 420"/>
                <a:gd name="T40" fmla="*/ 3151 w 4064"/>
                <a:gd name="T41" fmla="*/ 957 h 420"/>
                <a:gd name="T42" fmla="*/ 3151 w 4064"/>
                <a:gd name="T43" fmla="*/ 1153 h 420"/>
                <a:gd name="T44" fmla="*/ 3249 w 4064"/>
                <a:gd name="T45" fmla="*/ 936 h 420"/>
                <a:gd name="T46" fmla="*/ 2310 w 4064"/>
                <a:gd name="T47" fmla="*/ 927 h 420"/>
                <a:gd name="T48" fmla="*/ 2305 w 4064"/>
                <a:gd name="T49" fmla="*/ 1184 h 420"/>
                <a:gd name="T50" fmla="*/ 2632 w 4064"/>
                <a:gd name="T51" fmla="*/ 1173 h 420"/>
                <a:gd name="T52" fmla="*/ 2361 w 4064"/>
                <a:gd name="T53" fmla="*/ 1130 h 420"/>
                <a:gd name="T54" fmla="*/ 2481 w 4064"/>
                <a:gd name="T55" fmla="*/ 949 h 420"/>
                <a:gd name="T56" fmla="*/ 2645 w 4064"/>
                <a:gd name="T57" fmla="*/ 1210 h 420"/>
                <a:gd name="T58" fmla="*/ 2600 w 4064"/>
                <a:gd name="T59" fmla="*/ 980 h 420"/>
                <a:gd name="T60" fmla="*/ 2481 w 4064"/>
                <a:gd name="T61" fmla="*/ 1162 h 420"/>
                <a:gd name="T62" fmla="*/ 1407 w 4064"/>
                <a:gd name="T63" fmla="*/ 893 h 420"/>
                <a:gd name="T64" fmla="*/ 1140 w 4064"/>
                <a:gd name="T65" fmla="*/ 1103 h 420"/>
                <a:gd name="T66" fmla="*/ 1583 w 4064"/>
                <a:gd name="T67" fmla="*/ 1184 h 420"/>
                <a:gd name="T68" fmla="*/ 1233 w 4064"/>
                <a:gd name="T69" fmla="*/ 1055 h 420"/>
                <a:gd name="T70" fmla="*/ 1583 w 4064"/>
                <a:gd name="T71" fmla="*/ 927 h 420"/>
                <a:gd name="T72" fmla="*/ 1531 w 4064"/>
                <a:gd name="T73" fmla="*/ 979 h 420"/>
                <a:gd name="T74" fmla="*/ 1407 w 4064"/>
                <a:gd name="T75" fmla="*/ 1162 h 420"/>
                <a:gd name="T76" fmla="*/ 1640 w 4064"/>
                <a:gd name="T77" fmla="*/ 964 h 420"/>
                <a:gd name="T78" fmla="*/ 609 w 4064"/>
                <a:gd name="T79" fmla="*/ 1008 h 420"/>
                <a:gd name="T80" fmla="*/ 876 w 4064"/>
                <a:gd name="T81" fmla="*/ 1218 h 420"/>
                <a:gd name="T82" fmla="*/ 807 w 4064"/>
                <a:gd name="T83" fmla="*/ 1154 h 420"/>
                <a:gd name="T84" fmla="*/ 807 w 4064"/>
                <a:gd name="T85" fmla="*/ 957 h 420"/>
                <a:gd name="T86" fmla="*/ 876 w 4064"/>
                <a:gd name="T87" fmla="*/ 893 h 420"/>
                <a:gd name="T88" fmla="*/ 1077 w 4064"/>
                <a:gd name="T89" fmla="*/ 1162 h 420"/>
                <a:gd name="T90" fmla="*/ 952 w 4064"/>
                <a:gd name="T91" fmla="*/ 961 h 420"/>
                <a:gd name="T92" fmla="*/ 180 w 4064"/>
                <a:gd name="T93" fmla="*/ 902 h 420"/>
                <a:gd name="T94" fmla="*/ 46 w 4064"/>
                <a:gd name="T95" fmla="*/ 1147 h 420"/>
                <a:gd name="T96" fmla="*/ 459 w 4064"/>
                <a:gd name="T97" fmla="*/ 1176 h 420"/>
                <a:gd name="T98" fmla="*/ 112 w 4064"/>
                <a:gd name="T99" fmla="*/ 1079 h 420"/>
                <a:gd name="T100" fmla="*/ 112 w 4064"/>
                <a:gd name="T101" fmla="*/ 1022 h 420"/>
                <a:gd name="T102" fmla="*/ 418 w 4064"/>
                <a:gd name="T103" fmla="*/ 919 h 420"/>
                <a:gd name="T104" fmla="*/ 318 w 4064"/>
                <a:gd name="T105" fmla="*/ 1162 h 420"/>
                <a:gd name="T106" fmla="*/ 264 w 4064"/>
                <a:gd name="T107" fmla="*/ 945 h 420"/>
                <a:gd name="T108" fmla="*/ 530 w 4064"/>
                <a:gd name="T109" fmla="*/ 1026 h 42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064" h="420">
                  <a:moveTo>
                    <a:pt x="3694" y="326"/>
                  </a:moveTo>
                  <a:lnTo>
                    <a:pt x="3628" y="368"/>
                  </a:lnTo>
                  <a:lnTo>
                    <a:pt x="3681" y="391"/>
                  </a:lnTo>
                  <a:lnTo>
                    <a:pt x="3735" y="407"/>
                  </a:lnTo>
                  <a:lnTo>
                    <a:pt x="3791" y="417"/>
                  </a:lnTo>
                  <a:lnTo>
                    <a:pt x="3851" y="420"/>
                  </a:lnTo>
                  <a:lnTo>
                    <a:pt x="3946" y="411"/>
                  </a:lnTo>
                  <a:lnTo>
                    <a:pt x="4012" y="387"/>
                  </a:lnTo>
                  <a:lnTo>
                    <a:pt x="4031" y="371"/>
                  </a:lnTo>
                  <a:lnTo>
                    <a:pt x="3856" y="371"/>
                  </a:lnTo>
                  <a:lnTo>
                    <a:pt x="3814" y="368"/>
                  </a:lnTo>
                  <a:lnTo>
                    <a:pt x="3771" y="359"/>
                  </a:lnTo>
                  <a:lnTo>
                    <a:pt x="3730" y="345"/>
                  </a:lnTo>
                  <a:lnTo>
                    <a:pt x="3694" y="326"/>
                  </a:lnTo>
                  <a:close/>
                  <a:moveTo>
                    <a:pt x="3846" y="95"/>
                  </a:moveTo>
                  <a:lnTo>
                    <a:pt x="3760" y="103"/>
                  </a:lnTo>
                  <a:lnTo>
                    <a:pt x="3699" y="126"/>
                  </a:lnTo>
                  <a:lnTo>
                    <a:pt x="3662" y="158"/>
                  </a:lnTo>
                  <a:lnTo>
                    <a:pt x="3649" y="194"/>
                  </a:lnTo>
                  <a:lnTo>
                    <a:pt x="3656" y="222"/>
                  </a:lnTo>
                  <a:lnTo>
                    <a:pt x="3683" y="246"/>
                  </a:lnTo>
                  <a:lnTo>
                    <a:pt x="3738" y="265"/>
                  </a:lnTo>
                  <a:lnTo>
                    <a:pt x="3830" y="280"/>
                  </a:lnTo>
                  <a:lnTo>
                    <a:pt x="3893" y="288"/>
                  </a:lnTo>
                  <a:lnTo>
                    <a:pt x="3929" y="295"/>
                  </a:lnTo>
                  <a:lnTo>
                    <a:pt x="3951" y="305"/>
                  </a:lnTo>
                  <a:lnTo>
                    <a:pt x="3962" y="316"/>
                  </a:lnTo>
                  <a:lnTo>
                    <a:pt x="3965" y="328"/>
                  </a:lnTo>
                  <a:lnTo>
                    <a:pt x="3957" y="344"/>
                  </a:lnTo>
                  <a:lnTo>
                    <a:pt x="3935" y="358"/>
                  </a:lnTo>
                  <a:lnTo>
                    <a:pt x="3901" y="368"/>
                  </a:lnTo>
                  <a:lnTo>
                    <a:pt x="3856" y="371"/>
                  </a:lnTo>
                  <a:lnTo>
                    <a:pt x="4031" y="371"/>
                  </a:lnTo>
                  <a:lnTo>
                    <a:pt x="4051" y="354"/>
                  </a:lnTo>
                  <a:lnTo>
                    <a:pt x="4063" y="317"/>
                  </a:lnTo>
                  <a:lnTo>
                    <a:pt x="4056" y="287"/>
                  </a:lnTo>
                  <a:lnTo>
                    <a:pt x="4031" y="264"/>
                  </a:lnTo>
                  <a:lnTo>
                    <a:pt x="3990" y="247"/>
                  </a:lnTo>
                  <a:lnTo>
                    <a:pt x="3932" y="237"/>
                  </a:lnTo>
                  <a:lnTo>
                    <a:pt x="3820" y="224"/>
                  </a:lnTo>
                  <a:lnTo>
                    <a:pt x="3788" y="219"/>
                  </a:lnTo>
                  <a:lnTo>
                    <a:pt x="3766" y="211"/>
                  </a:lnTo>
                  <a:lnTo>
                    <a:pt x="3752" y="200"/>
                  </a:lnTo>
                  <a:lnTo>
                    <a:pt x="3748" y="187"/>
                  </a:lnTo>
                  <a:lnTo>
                    <a:pt x="3756" y="168"/>
                  </a:lnTo>
                  <a:lnTo>
                    <a:pt x="3779" y="154"/>
                  </a:lnTo>
                  <a:lnTo>
                    <a:pt x="3812" y="146"/>
                  </a:lnTo>
                  <a:lnTo>
                    <a:pt x="3849" y="143"/>
                  </a:lnTo>
                  <a:lnTo>
                    <a:pt x="4031" y="143"/>
                  </a:lnTo>
                  <a:lnTo>
                    <a:pt x="4041" y="135"/>
                  </a:lnTo>
                  <a:lnTo>
                    <a:pt x="3993" y="117"/>
                  </a:lnTo>
                  <a:lnTo>
                    <a:pt x="3945" y="104"/>
                  </a:lnTo>
                  <a:lnTo>
                    <a:pt x="3896" y="97"/>
                  </a:lnTo>
                  <a:lnTo>
                    <a:pt x="3846" y="95"/>
                  </a:lnTo>
                  <a:close/>
                  <a:moveTo>
                    <a:pt x="4031" y="143"/>
                  </a:moveTo>
                  <a:lnTo>
                    <a:pt x="3849" y="143"/>
                  </a:lnTo>
                  <a:lnTo>
                    <a:pt x="3884" y="145"/>
                  </a:lnTo>
                  <a:lnTo>
                    <a:pt x="3918" y="152"/>
                  </a:lnTo>
                  <a:lnTo>
                    <a:pt x="3952" y="162"/>
                  </a:lnTo>
                  <a:lnTo>
                    <a:pt x="3986" y="177"/>
                  </a:lnTo>
                  <a:lnTo>
                    <a:pt x="4031" y="143"/>
                  </a:lnTo>
                  <a:close/>
                  <a:moveTo>
                    <a:pt x="3553" y="103"/>
                  </a:moveTo>
                  <a:lnTo>
                    <a:pt x="3455" y="103"/>
                  </a:lnTo>
                  <a:lnTo>
                    <a:pt x="3455" y="412"/>
                  </a:lnTo>
                  <a:lnTo>
                    <a:pt x="3553" y="412"/>
                  </a:lnTo>
                  <a:lnTo>
                    <a:pt x="3553" y="103"/>
                  </a:lnTo>
                  <a:close/>
                  <a:moveTo>
                    <a:pt x="3504" y="0"/>
                  </a:moveTo>
                  <a:lnTo>
                    <a:pt x="3482" y="3"/>
                  </a:lnTo>
                  <a:lnTo>
                    <a:pt x="3464" y="10"/>
                  </a:lnTo>
                  <a:lnTo>
                    <a:pt x="3452" y="21"/>
                  </a:lnTo>
                  <a:lnTo>
                    <a:pt x="3448" y="35"/>
                  </a:lnTo>
                  <a:lnTo>
                    <a:pt x="3452" y="48"/>
                  </a:lnTo>
                  <a:lnTo>
                    <a:pt x="3464" y="59"/>
                  </a:lnTo>
                  <a:lnTo>
                    <a:pt x="3482" y="66"/>
                  </a:lnTo>
                  <a:lnTo>
                    <a:pt x="3504" y="69"/>
                  </a:lnTo>
                  <a:lnTo>
                    <a:pt x="3526" y="66"/>
                  </a:lnTo>
                  <a:lnTo>
                    <a:pt x="3543" y="59"/>
                  </a:lnTo>
                  <a:lnTo>
                    <a:pt x="3555" y="48"/>
                  </a:lnTo>
                  <a:lnTo>
                    <a:pt x="3560" y="35"/>
                  </a:lnTo>
                  <a:lnTo>
                    <a:pt x="3555" y="21"/>
                  </a:lnTo>
                  <a:lnTo>
                    <a:pt x="3543" y="10"/>
                  </a:lnTo>
                  <a:lnTo>
                    <a:pt x="3526" y="3"/>
                  </a:lnTo>
                  <a:lnTo>
                    <a:pt x="3504" y="0"/>
                  </a:lnTo>
                  <a:close/>
                  <a:moveTo>
                    <a:pt x="3077" y="95"/>
                  </a:moveTo>
                  <a:lnTo>
                    <a:pt x="2988" y="104"/>
                  </a:lnTo>
                  <a:lnTo>
                    <a:pt x="2914" y="129"/>
                  </a:lnTo>
                  <a:lnTo>
                    <a:pt x="2858" y="166"/>
                  </a:lnTo>
                  <a:lnTo>
                    <a:pt x="2822" y="210"/>
                  </a:lnTo>
                  <a:lnTo>
                    <a:pt x="2810" y="257"/>
                  </a:lnTo>
                  <a:lnTo>
                    <a:pt x="2821" y="305"/>
                  </a:lnTo>
                  <a:lnTo>
                    <a:pt x="2855" y="349"/>
                  </a:lnTo>
                  <a:lnTo>
                    <a:pt x="2909" y="386"/>
                  </a:lnTo>
                  <a:lnTo>
                    <a:pt x="2981" y="411"/>
                  </a:lnTo>
                  <a:lnTo>
                    <a:pt x="3071" y="420"/>
                  </a:lnTo>
                  <a:lnTo>
                    <a:pt x="3121" y="417"/>
                  </a:lnTo>
                  <a:lnTo>
                    <a:pt x="3166" y="408"/>
                  </a:lnTo>
                  <a:lnTo>
                    <a:pt x="3205" y="394"/>
                  </a:lnTo>
                  <a:lnTo>
                    <a:pt x="3236" y="375"/>
                  </a:lnTo>
                  <a:lnTo>
                    <a:pt x="3249" y="366"/>
                  </a:lnTo>
                  <a:lnTo>
                    <a:pt x="3348" y="366"/>
                  </a:lnTo>
                  <a:lnTo>
                    <a:pt x="3348" y="364"/>
                  </a:lnTo>
                  <a:lnTo>
                    <a:pt x="3085" y="364"/>
                  </a:lnTo>
                  <a:lnTo>
                    <a:pt x="3019" y="355"/>
                  </a:lnTo>
                  <a:lnTo>
                    <a:pt x="2965" y="332"/>
                  </a:lnTo>
                  <a:lnTo>
                    <a:pt x="2928" y="299"/>
                  </a:lnTo>
                  <a:lnTo>
                    <a:pt x="2915" y="257"/>
                  </a:lnTo>
                  <a:lnTo>
                    <a:pt x="2928" y="216"/>
                  </a:lnTo>
                  <a:lnTo>
                    <a:pt x="2965" y="182"/>
                  </a:lnTo>
                  <a:lnTo>
                    <a:pt x="3019" y="159"/>
                  </a:lnTo>
                  <a:lnTo>
                    <a:pt x="3085" y="151"/>
                  </a:lnTo>
                  <a:lnTo>
                    <a:pt x="3348" y="151"/>
                  </a:lnTo>
                  <a:lnTo>
                    <a:pt x="3348" y="150"/>
                  </a:lnTo>
                  <a:lnTo>
                    <a:pt x="3247" y="150"/>
                  </a:lnTo>
                  <a:lnTo>
                    <a:pt x="3236" y="140"/>
                  </a:lnTo>
                  <a:lnTo>
                    <a:pt x="3208" y="121"/>
                  </a:lnTo>
                  <a:lnTo>
                    <a:pt x="3171" y="107"/>
                  </a:lnTo>
                  <a:lnTo>
                    <a:pt x="3127" y="98"/>
                  </a:lnTo>
                  <a:lnTo>
                    <a:pt x="3077" y="95"/>
                  </a:lnTo>
                  <a:close/>
                  <a:moveTo>
                    <a:pt x="3348" y="366"/>
                  </a:moveTo>
                  <a:lnTo>
                    <a:pt x="3249" y="366"/>
                  </a:lnTo>
                  <a:lnTo>
                    <a:pt x="3249" y="412"/>
                  </a:lnTo>
                  <a:lnTo>
                    <a:pt x="3348" y="412"/>
                  </a:lnTo>
                  <a:lnTo>
                    <a:pt x="3348" y="366"/>
                  </a:lnTo>
                  <a:close/>
                  <a:moveTo>
                    <a:pt x="3348" y="151"/>
                  </a:moveTo>
                  <a:lnTo>
                    <a:pt x="3085" y="151"/>
                  </a:lnTo>
                  <a:lnTo>
                    <a:pt x="3151" y="159"/>
                  </a:lnTo>
                  <a:lnTo>
                    <a:pt x="3204" y="182"/>
                  </a:lnTo>
                  <a:lnTo>
                    <a:pt x="3240" y="216"/>
                  </a:lnTo>
                  <a:lnTo>
                    <a:pt x="3254" y="257"/>
                  </a:lnTo>
                  <a:lnTo>
                    <a:pt x="3240" y="299"/>
                  </a:lnTo>
                  <a:lnTo>
                    <a:pt x="3204" y="332"/>
                  </a:lnTo>
                  <a:lnTo>
                    <a:pt x="3151" y="355"/>
                  </a:lnTo>
                  <a:lnTo>
                    <a:pt x="3085" y="364"/>
                  </a:lnTo>
                  <a:lnTo>
                    <a:pt x="3348" y="364"/>
                  </a:lnTo>
                  <a:lnTo>
                    <a:pt x="3348" y="151"/>
                  </a:lnTo>
                  <a:close/>
                  <a:moveTo>
                    <a:pt x="3348" y="9"/>
                  </a:moveTo>
                  <a:lnTo>
                    <a:pt x="3249" y="9"/>
                  </a:lnTo>
                  <a:lnTo>
                    <a:pt x="3249" y="138"/>
                  </a:lnTo>
                  <a:lnTo>
                    <a:pt x="3247" y="150"/>
                  </a:lnTo>
                  <a:lnTo>
                    <a:pt x="3348" y="150"/>
                  </a:lnTo>
                  <a:lnTo>
                    <a:pt x="3348" y="9"/>
                  </a:lnTo>
                  <a:close/>
                  <a:moveTo>
                    <a:pt x="2473" y="95"/>
                  </a:moveTo>
                  <a:lnTo>
                    <a:pt x="2384" y="104"/>
                  </a:lnTo>
                  <a:lnTo>
                    <a:pt x="2310" y="129"/>
                  </a:lnTo>
                  <a:lnTo>
                    <a:pt x="2254" y="166"/>
                  </a:lnTo>
                  <a:lnTo>
                    <a:pt x="2218" y="210"/>
                  </a:lnTo>
                  <a:lnTo>
                    <a:pt x="2206" y="257"/>
                  </a:lnTo>
                  <a:lnTo>
                    <a:pt x="2217" y="305"/>
                  </a:lnTo>
                  <a:lnTo>
                    <a:pt x="2251" y="349"/>
                  </a:lnTo>
                  <a:lnTo>
                    <a:pt x="2305" y="386"/>
                  </a:lnTo>
                  <a:lnTo>
                    <a:pt x="2377" y="411"/>
                  </a:lnTo>
                  <a:lnTo>
                    <a:pt x="2467" y="420"/>
                  </a:lnTo>
                  <a:lnTo>
                    <a:pt x="2517" y="417"/>
                  </a:lnTo>
                  <a:lnTo>
                    <a:pt x="2562" y="408"/>
                  </a:lnTo>
                  <a:lnTo>
                    <a:pt x="2601" y="394"/>
                  </a:lnTo>
                  <a:lnTo>
                    <a:pt x="2632" y="375"/>
                  </a:lnTo>
                  <a:lnTo>
                    <a:pt x="2645" y="366"/>
                  </a:lnTo>
                  <a:lnTo>
                    <a:pt x="2744" y="366"/>
                  </a:lnTo>
                  <a:lnTo>
                    <a:pt x="2744" y="364"/>
                  </a:lnTo>
                  <a:lnTo>
                    <a:pt x="2481" y="364"/>
                  </a:lnTo>
                  <a:lnTo>
                    <a:pt x="2415" y="355"/>
                  </a:lnTo>
                  <a:lnTo>
                    <a:pt x="2361" y="332"/>
                  </a:lnTo>
                  <a:lnTo>
                    <a:pt x="2324" y="299"/>
                  </a:lnTo>
                  <a:lnTo>
                    <a:pt x="2311" y="257"/>
                  </a:lnTo>
                  <a:lnTo>
                    <a:pt x="2324" y="216"/>
                  </a:lnTo>
                  <a:lnTo>
                    <a:pt x="2361" y="182"/>
                  </a:lnTo>
                  <a:lnTo>
                    <a:pt x="2415" y="159"/>
                  </a:lnTo>
                  <a:lnTo>
                    <a:pt x="2481" y="151"/>
                  </a:lnTo>
                  <a:lnTo>
                    <a:pt x="2679" y="151"/>
                  </a:lnTo>
                  <a:lnTo>
                    <a:pt x="2603" y="113"/>
                  </a:lnTo>
                  <a:lnTo>
                    <a:pt x="2473" y="95"/>
                  </a:lnTo>
                  <a:close/>
                  <a:moveTo>
                    <a:pt x="2744" y="366"/>
                  </a:moveTo>
                  <a:lnTo>
                    <a:pt x="2645" y="366"/>
                  </a:lnTo>
                  <a:lnTo>
                    <a:pt x="2645" y="412"/>
                  </a:lnTo>
                  <a:lnTo>
                    <a:pt x="2744" y="412"/>
                  </a:lnTo>
                  <a:lnTo>
                    <a:pt x="2744" y="366"/>
                  </a:lnTo>
                  <a:close/>
                  <a:moveTo>
                    <a:pt x="2679" y="151"/>
                  </a:moveTo>
                  <a:lnTo>
                    <a:pt x="2481" y="151"/>
                  </a:lnTo>
                  <a:lnTo>
                    <a:pt x="2547" y="159"/>
                  </a:lnTo>
                  <a:lnTo>
                    <a:pt x="2600" y="182"/>
                  </a:lnTo>
                  <a:lnTo>
                    <a:pt x="2636" y="216"/>
                  </a:lnTo>
                  <a:lnTo>
                    <a:pt x="2650" y="257"/>
                  </a:lnTo>
                  <a:lnTo>
                    <a:pt x="2636" y="299"/>
                  </a:lnTo>
                  <a:lnTo>
                    <a:pt x="2600" y="332"/>
                  </a:lnTo>
                  <a:lnTo>
                    <a:pt x="2547" y="355"/>
                  </a:lnTo>
                  <a:lnTo>
                    <a:pt x="2481" y="364"/>
                  </a:lnTo>
                  <a:lnTo>
                    <a:pt x="2744" y="364"/>
                  </a:lnTo>
                  <a:lnTo>
                    <a:pt x="2744" y="217"/>
                  </a:lnTo>
                  <a:lnTo>
                    <a:pt x="2730" y="197"/>
                  </a:lnTo>
                  <a:lnTo>
                    <a:pt x="2686" y="155"/>
                  </a:lnTo>
                  <a:lnTo>
                    <a:pt x="2679" y="151"/>
                  </a:lnTo>
                  <a:close/>
                  <a:moveTo>
                    <a:pt x="1407" y="95"/>
                  </a:moveTo>
                  <a:lnTo>
                    <a:pt x="1309" y="104"/>
                  </a:lnTo>
                  <a:lnTo>
                    <a:pt x="1231" y="129"/>
                  </a:lnTo>
                  <a:lnTo>
                    <a:pt x="1174" y="166"/>
                  </a:lnTo>
                  <a:lnTo>
                    <a:pt x="1140" y="210"/>
                  </a:lnTo>
                  <a:lnTo>
                    <a:pt x="1128" y="257"/>
                  </a:lnTo>
                  <a:lnTo>
                    <a:pt x="1140" y="305"/>
                  </a:lnTo>
                  <a:lnTo>
                    <a:pt x="1174" y="349"/>
                  </a:lnTo>
                  <a:lnTo>
                    <a:pt x="1231" y="386"/>
                  </a:lnTo>
                  <a:lnTo>
                    <a:pt x="1309" y="411"/>
                  </a:lnTo>
                  <a:lnTo>
                    <a:pt x="1407" y="420"/>
                  </a:lnTo>
                  <a:lnTo>
                    <a:pt x="1506" y="411"/>
                  </a:lnTo>
                  <a:lnTo>
                    <a:pt x="1583" y="386"/>
                  </a:lnTo>
                  <a:lnTo>
                    <a:pt x="1617" y="364"/>
                  </a:lnTo>
                  <a:lnTo>
                    <a:pt x="1407" y="364"/>
                  </a:lnTo>
                  <a:lnTo>
                    <a:pt x="1338" y="356"/>
                  </a:lnTo>
                  <a:lnTo>
                    <a:pt x="1283" y="333"/>
                  </a:lnTo>
                  <a:lnTo>
                    <a:pt x="1247" y="300"/>
                  </a:lnTo>
                  <a:lnTo>
                    <a:pt x="1233" y="257"/>
                  </a:lnTo>
                  <a:lnTo>
                    <a:pt x="1247" y="215"/>
                  </a:lnTo>
                  <a:lnTo>
                    <a:pt x="1283" y="181"/>
                  </a:lnTo>
                  <a:lnTo>
                    <a:pt x="1338" y="159"/>
                  </a:lnTo>
                  <a:lnTo>
                    <a:pt x="1407" y="151"/>
                  </a:lnTo>
                  <a:lnTo>
                    <a:pt x="1617" y="151"/>
                  </a:lnTo>
                  <a:lnTo>
                    <a:pt x="1583" y="129"/>
                  </a:lnTo>
                  <a:lnTo>
                    <a:pt x="1506" y="104"/>
                  </a:lnTo>
                  <a:lnTo>
                    <a:pt x="1407" y="95"/>
                  </a:lnTo>
                  <a:close/>
                  <a:moveTo>
                    <a:pt x="1617" y="151"/>
                  </a:moveTo>
                  <a:lnTo>
                    <a:pt x="1407" y="151"/>
                  </a:lnTo>
                  <a:lnTo>
                    <a:pt x="1476" y="159"/>
                  </a:lnTo>
                  <a:lnTo>
                    <a:pt x="1531" y="181"/>
                  </a:lnTo>
                  <a:lnTo>
                    <a:pt x="1568" y="215"/>
                  </a:lnTo>
                  <a:lnTo>
                    <a:pt x="1581" y="257"/>
                  </a:lnTo>
                  <a:lnTo>
                    <a:pt x="1568" y="300"/>
                  </a:lnTo>
                  <a:lnTo>
                    <a:pt x="1531" y="333"/>
                  </a:lnTo>
                  <a:lnTo>
                    <a:pt x="1476" y="356"/>
                  </a:lnTo>
                  <a:lnTo>
                    <a:pt x="1407" y="364"/>
                  </a:lnTo>
                  <a:lnTo>
                    <a:pt x="1617" y="364"/>
                  </a:lnTo>
                  <a:lnTo>
                    <a:pt x="1640" y="349"/>
                  </a:lnTo>
                  <a:lnTo>
                    <a:pt x="1674" y="305"/>
                  </a:lnTo>
                  <a:lnTo>
                    <a:pt x="1686" y="257"/>
                  </a:lnTo>
                  <a:lnTo>
                    <a:pt x="1674" y="210"/>
                  </a:lnTo>
                  <a:lnTo>
                    <a:pt x="1640" y="166"/>
                  </a:lnTo>
                  <a:lnTo>
                    <a:pt x="1617" y="151"/>
                  </a:lnTo>
                  <a:close/>
                  <a:moveTo>
                    <a:pt x="876" y="95"/>
                  </a:moveTo>
                  <a:lnTo>
                    <a:pt x="778" y="104"/>
                  </a:lnTo>
                  <a:lnTo>
                    <a:pt x="700" y="129"/>
                  </a:lnTo>
                  <a:lnTo>
                    <a:pt x="643" y="166"/>
                  </a:lnTo>
                  <a:lnTo>
                    <a:pt x="609" y="210"/>
                  </a:lnTo>
                  <a:lnTo>
                    <a:pt x="597" y="257"/>
                  </a:lnTo>
                  <a:lnTo>
                    <a:pt x="609" y="305"/>
                  </a:lnTo>
                  <a:lnTo>
                    <a:pt x="643" y="349"/>
                  </a:lnTo>
                  <a:lnTo>
                    <a:pt x="700" y="386"/>
                  </a:lnTo>
                  <a:lnTo>
                    <a:pt x="778" y="411"/>
                  </a:lnTo>
                  <a:lnTo>
                    <a:pt x="876" y="420"/>
                  </a:lnTo>
                  <a:lnTo>
                    <a:pt x="942" y="415"/>
                  </a:lnTo>
                  <a:lnTo>
                    <a:pt x="1003" y="401"/>
                  </a:lnTo>
                  <a:lnTo>
                    <a:pt x="1056" y="378"/>
                  </a:lnTo>
                  <a:lnTo>
                    <a:pt x="1077" y="364"/>
                  </a:lnTo>
                  <a:lnTo>
                    <a:pt x="876" y="364"/>
                  </a:lnTo>
                  <a:lnTo>
                    <a:pt x="807" y="356"/>
                  </a:lnTo>
                  <a:lnTo>
                    <a:pt x="752" y="333"/>
                  </a:lnTo>
                  <a:lnTo>
                    <a:pt x="716" y="300"/>
                  </a:lnTo>
                  <a:lnTo>
                    <a:pt x="702" y="257"/>
                  </a:lnTo>
                  <a:lnTo>
                    <a:pt x="716" y="215"/>
                  </a:lnTo>
                  <a:lnTo>
                    <a:pt x="752" y="181"/>
                  </a:lnTo>
                  <a:lnTo>
                    <a:pt x="807" y="159"/>
                  </a:lnTo>
                  <a:lnTo>
                    <a:pt x="876" y="151"/>
                  </a:lnTo>
                  <a:lnTo>
                    <a:pt x="1076" y="151"/>
                  </a:lnTo>
                  <a:lnTo>
                    <a:pt x="1053" y="135"/>
                  </a:lnTo>
                  <a:lnTo>
                    <a:pt x="1001" y="112"/>
                  </a:lnTo>
                  <a:lnTo>
                    <a:pt x="942" y="99"/>
                  </a:lnTo>
                  <a:lnTo>
                    <a:pt x="876" y="95"/>
                  </a:lnTo>
                  <a:close/>
                  <a:moveTo>
                    <a:pt x="1012" y="317"/>
                  </a:moveTo>
                  <a:lnTo>
                    <a:pt x="984" y="337"/>
                  </a:lnTo>
                  <a:lnTo>
                    <a:pt x="952" y="352"/>
                  </a:lnTo>
                  <a:lnTo>
                    <a:pt x="916" y="361"/>
                  </a:lnTo>
                  <a:lnTo>
                    <a:pt x="876" y="364"/>
                  </a:lnTo>
                  <a:lnTo>
                    <a:pt x="1077" y="364"/>
                  </a:lnTo>
                  <a:lnTo>
                    <a:pt x="1098" y="348"/>
                  </a:lnTo>
                  <a:lnTo>
                    <a:pt x="1012" y="317"/>
                  </a:lnTo>
                  <a:close/>
                  <a:moveTo>
                    <a:pt x="1076" y="151"/>
                  </a:moveTo>
                  <a:lnTo>
                    <a:pt x="876" y="151"/>
                  </a:lnTo>
                  <a:lnTo>
                    <a:pt x="916" y="154"/>
                  </a:lnTo>
                  <a:lnTo>
                    <a:pt x="952" y="163"/>
                  </a:lnTo>
                  <a:lnTo>
                    <a:pt x="984" y="177"/>
                  </a:lnTo>
                  <a:lnTo>
                    <a:pt x="1012" y="198"/>
                  </a:lnTo>
                  <a:lnTo>
                    <a:pt x="1098" y="166"/>
                  </a:lnTo>
                  <a:lnTo>
                    <a:pt x="1076" y="151"/>
                  </a:lnTo>
                  <a:close/>
                  <a:moveTo>
                    <a:pt x="279" y="95"/>
                  </a:moveTo>
                  <a:lnTo>
                    <a:pt x="180" y="104"/>
                  </a:lnTo>
                  <a:lnTo>
                    <a:pt x="102" y="129"/>
                  </a:lnTo>
                  <a:lnTo>
                    <a:pt x="46" y="166"/>
                  </a:lnTo>
                  <a:lnTo>
                    <a:pt x="12" y="210"/>
                  </a:lnTo>
                  <a:lnTo>
                    <a:pt x="0" y="257"/>
                  </a:lnTo>
                  <a:lnTo>
                    <a:pt x="12" y="305"/>
                  </a:lnTo>
                  <a:lnTo>
                    <a:pt x="46" y="349"/>
                  </a:lnTo>
                  <a:lnTo>
                    <a:pt x="102" y="386"/>
                  </a:lnTo>
                  <a:lnTo>
                    <a:pt x="180" y="411"/>
                  </a:lnTo>
                  <a:lnTo>
                    <a:pt x="279" y="420"/>
                  </a:lnTo>
                  <a:lnTo>
                    <a:pt x="343" y="415"/>
                  </a:lnTo>
                  <a:lnTo>
                    <a:pt x="403" y="401"/>
                  </a:lnTo>
                  <a:lnTo>
                    <a:pt x="459" y="378"/>
                  </a:lnTo>
                  <a:lnTo>
                    <a:pt x="476" y="368"/>
                  </a:lnTo>
                  <a:lnTo>
                    <a:pt x="276" y="368"/>
                  </a:lnTo>
                  <a:lnTo>
                    <a:pt x="215" y="361"/>
                  </a:lnTo>
                  <a:lnTo>
                    <a:pt x="164" y="343"/>
                  </a:lnTo>
                  <a:lnTo>
                    <a:pt x="128" y="315"/>
                  </a:lnTo>
                  <a:lnTo>
                    <a:pt x="112" y="281"/>
                  </a:lnTo>
                  <a:lnTo>
                    <a:pt x="111" y="277"/>
                  </a:lnTo>
                  <a:lnTo>
                    <a:pt x="540" y="277"/>
                  </a:lnTo>
                  <a:lnTo>
                    <a:pt x="540" y="268"/>
                  </a:lnTo>
                  <a:lnTo>
                    <a:pt x="530" y="228"/>
                  </a:lnTo>
                  <a:lnTo>
                    <a:pt x="110" y="228"/>
                  </a:lnTo>
                  <a:lnTo>
                    <a:pt x="112" y="224"/>
                  </a:lnTo>
                  <a:lnTo>
                    <a:pt x="133" y="192"/>
                  </a:lnTo>
                  <a:lnTo>
                    <a:pt x="166" y="168"/>
                  </a:lnTo>
                  <a:lnTo>
                    <a:pt x="211" y="152"/>
                  </a:lnTo>
                  <a:lnTo>
                    <a:pt x="264" y="147"/>
                  </a:lnTo>
                  <a:lnTo>
                    <a:pt x="465" y="147"/>
                  </a:lnTo>
                  <a:lnTo>
                    <a:pt x="418" y="121"/>
                  </a:lnTo>
                  <a:lnTo>
                    <a:pt x="348" y="101"/>
                  </a:lnTo>
                  <a:lnTo>
                    <a:pt x="279" y="95"/>
                  </a:lnTo>
                  <a:close/>
                  <a:moveTo>
                    <a:pt x="426" y="320"/>
                  </a:moveTo>
                  <a:lnTo>
                    <a:pt x="394" y="340"/>
                  </a:lnTo>
                  <a:lnTo>
                    <a:pt x="358" y="355"/>
                  </a:lnTo>
                  <a:lnTo>
                    <a:pt x="318" y="364"/>
                  </a:lnTo>
                  <a:lnTo>
                    <a:pt x="276" y="368"/>
                  </a:lnTo>
                  <a:lnTo>
                    <a:pt x="476" y="368"/>
                  </a:lnTo>
                  <a:lnTo>
                    <a:pt x="509" y="348"/>
                  </a:lnTo>
                  <a:lnTo>
                    <a:pt x="426" y="320"/>
                  </a:lnTo>
                  <a:close/>
                  <a:moveTo>
                    <a:pt x="465" y="147"/>
                  </a:moveTo>
                  <a:lnTo>
                    <a:pt x="264" y="147"/>
                  </a:lnTo>
                  <a:lnTo>
                    <a:pt x="317" y="152"/>
                  </a:lnTo>
                  <a:lnTo>
                    <a:pt x="363" y="167"/>
                  </a:lnTo>
                  <a:lnTo>
                    <a:pt x="398" y="191"/>
                  </a:lnTo>
                  <a:lnTo>
                    <a:pt x="422" y="224"/>
                  </a:lnTo>
                  <a:lnTo>
                    <a:pt x="425" y="228"/>
                  </a:lnTo>
                  <a:lnTo>
                    <a:pt x="530" y="228"/>
                  </a:lnTo>
                  <a:lnTo>
                    <a:pt x="524" y="204"/>
                  </a:lnTo>
                  <a:lnTo>
                    <a:pt x="480" y="155"/>
                  </a:lnTo>
                  <a:lnTo>
                    <a:pt x="465" y="147"/>
                  </a:ln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442519889" name="Picture 442519889">
              <a:extLst>
                <a:ext uri="{FF2B5EF4-FFF2-40B4-BE49-F238E27FC236}">
                  <a16:creationId xmlns:a16="http://schemas.microsoft.com/office/drawing/2014/main" id="{8E0B0924-7985-B6C3-998C-F68CC8D722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7" y="5"/>
              <a:ext cx="1054" cy="9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AutoShape 10">
              <a:extLst>
                <a:ext uri="{FF2B5EF4-FFF2-40B4-BE49-F238E27FC236}">
                  <a16:creationId xmlns:a16="http://schemas.microsoft.com/office/drawing/2014/main" id="{131BACCD-8B3D-5DA3-2922-4FCEF3F2F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0"/>
              <a:ext cx="1063" cy="962"/>
            </a:xfrm>
            <a:custGeom>
              <a:avLst/>
              <a:gdLst>
                <a:gd name="T0" fmla="*/ 3 w 1063"/>
                <a:gd name="T1" fmla="*/ 772 h 962"/>
                <a:gd name="T2" fmla="*/ 0 w 1063"/>
                <a:gd name="T3" fmla="*/ 776 h 962"/>
                <a:gd name="T4" fmla="*/ 26 w 1063"/>
                <a:gd name="T5" fmla="*/ 822 h 962"/>
                <a:gd name="T6" fmla="*/ 91 w 1063"/>
                <a:gd name="T7" fmla="*/ 940 h 962"/>
                <a:gd name="T8" fmla="*/ 184 w 1063"/>
                <a:gd name="T9" fmla="*/ 1120 h 962"/>
                <a:gd name="T10" fmla="*/ 293 w 1063"/>
                <a:gd name="T11" fmla="*/ 1348 h 962"/>
                <a:gd name="T12" fmla="*/ 298 w 1063"/>
                <a:gd name="T13" fmla="*/ 1349 h 962"/>
                <a:gd name="T14" fmla="*/ 300 w 1063"/>
                <a:gd name="T15" fmla="*/ 1345 h 962"/>
                <a:gd name="T16" fmla="*/ 294 w 1063"/>
                <a:gd name="T17" fmla="*/ 1331 h 962"/>
                <a:gd name="T18" fmla="*/ 202 w 1063"/>
                <a:gd name="T19" fmla="*/ 1136 h 962"/>
                <a:gd name="T20" fmla="*/ 119 w 1063"/>
                <a:gd name="T21" fmla="*/ 975 h 962"/>
                <a:gd name="T22" fmla="*/ 55 w 1063"/>
                <a:gd name="T23" fmla="*/ 856 h 962"/>
                <a:gd name="T24" fmla="*/ 16 w 1063"/>
                <a:gd name="T25" fmla="*/ 787 h 962"/>
                <a:gd name="T26" fmla="*/ 5 w 1063"/>
                <a:gd name="T27" fmla="*/ 771 h 962"/>
                <a:gd name="T28" fmla="*/ 1029 w 1063"/>
                <a:gd name="T29" fmla="*/ 410 h 962"/>
                <a:gd name="T30" fmla="*/ 856 w 1063"/>
                <a:gd name="T31" fmla="*/ 557 h 962"/>
                <a:gd name="T32" fmla="*/ 713 w 1063"/>
                <a:gd name="T33" fmla="*/ 694 h 962"/>
                <a:gd name="T34" fmla="*/ 597 w 1063"/>
                <a:gd name="T35" fmla="*/ 820 h 962"/>
                <a:gd name="T36" fmla="*/ 506 w 1063"/>
                <a:gd name="T37" fmla="*/ 933 h 962"/>
                <a:gd name="T38" fmla="*/ 437 w 1063"/>
                <a:gd name="T39" fmla="*/ 1031 h 962"/>
                <a:gd name="T40" fmla="*/ 359 w 1063"/>
                <a:gd name="T41" fmla="*/ 1166 h 962"/>
                <a:gd name="T42" fmla="*/ 304 w 1063"/>
                <a:gd name="T43" fmla="*/ 1296 h 962"/>
                <a:gd name="T44" fmla="*/ 303 w 1063"/>
                <a:gd name="T45" fmla="*/ 1331 h 962"/>
                <a:gd name="T46" fmla="*/ 321 w 1063"/>
                <a:gd name="T47" fmla="*/ 1274 h 962"/>
                <a:gd name="T48" fmla="*/ 418 w 1063"/>
                <a:gd name="T49" fmla="*/ 1078 h 962"/>
                <a:gd name="T50" fmla="*/ 472 w 1063"/>
                <a:gd name="T51" fmla="*/ 994 h 962"/>
                <a:gd name="T52" fmla="*/ 545 w 1063"/>
                <a:gd name="T53" fmla="*/ 896 h 962"/>
                <a:gd name="T54" fmla="*/ 638 w 1063"/>
                <a:gd name="T55" fmla="*/ 786 h 962"/>
                <a:gd name="T56" fmla="*/ 754 w 1063"/>
                <a:gd name="T57" fmla="*/ 665 h 962"/>
                <a:gd name="T58" fmla="*/ 894 w 1063"/>
                <a:gd name="T59" fmla="*/ 534 h 962"/>
                <a:gd name="T60" fmla="*/ 1043 w 1063"/>
                <a:gd name="T61" fmla="*/ 410 h 962"/>
                <a:gd name="T62" fmla="*/ 16 w 1063"/>
                <a:gd name="T63" fmla="*/ 787 h 962"/>
                <a:gd name="T64" fmla="*/ 301 w 1063"/>
                <a:gd name="T65" fmla="*/ 943 h 962"/>
                <a:gd name="T66" fmla="*/ 310 w 1063"/>
                <a:gd name="T67" fmla="*/ 933 h 962"/>
                <a:gd name="T68" fmla="*/ 34 w 1063"/>
                <a:gd name="T69" fmla="*/ 787 h 962"/>
                <a:gd name="T70" fmla="*/ 1048 w 1063"/>
                <a:gd name="T71" fmla="*/ 392 h 962"/>
                <a:gd name="T72" fmla="*/ 989 w 1063"/>
                <a:gd name="T73" fmla="*/ 420 h 962"/>
                <a:gd name="T74" fmla="*/ 884 w 1063"/>
                <a:gd name="T75" fmla="*/ 478 h 962"/>
                <a:gd name="T76" fmla="*/ 742 w 1063"/>
                <a:gd name="T77" fmla="*/ 566 h 962"/>
                <a:gd name="T78" fmla="*/ 575 w 1063"/>
                <a:gd name="T79" fmla="*/ 687 h 962"/>
                <a:gd name="T80" fmla="*/ 392 w 1063"/>
                <a:gd name="T81" fmla="*/ 842 h 962"/>
                <a:gd name="T82" fmla="*/ 310 w 1063"/>
                <a:gd name="T83" fmla="*/ 933 h 962"/>
                <a:gd name="T84" fmla="*/ 472 w 1063"/>
                <a:gd name="T85" fmla="*/ 783 h 962"/>
                <a:gd name="T86" fmla="*/ 634 w 1063"/>
                <a:gd name="T87" fmla="*/ 653 h 962"/>
                <a:gd name="T88" fmla="*/ 781 w 1063"/>
                <a:gd name="T89" fmla="*/ 551 h 962"/>
                <a:gd name="T90" fmla="*/ 905 w 1063"/>
                <a:gd name="T91" fmla="*/ 476 h 962"/>
                <a:gd name="T92" fmla="*/ 997 w 1063"/>
                <a:gd name="T93" fmla="*/ 426 h 962"/>
                <a:gd name="T94" fmla="*/ 1043 w 1063"/>
                <a:gd name="T95" fmla="*/ 410 h 962"/>
                <a:gd name="T96" fmla="*/ 1063 w 1063"/>
                <a:gd name="T97" fmla="*/ 392 h 962"/>
                <a:gd name="T98" fmla="*/ 1059 w 1063"/>
                <a:gd name="T99" fmla="*/ 387 h 96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063" h="962">
                  <a:moveTo>
                    <a:pt x="5" y="384"/>
                  </a:moveTo>
                  <a:lnTo>
                    <a:pt x="3" y="385"/>
                  </a:lnTo>
                  <a:lnTo>
                    <a:pt x="0" y="387"/>
                  </a:lnTo>
                  <a:lnTo>
                    <a:pt x="0" y="389"/>
                  </a:lnTo>
                  <a:lnTo>
                    <a:pt x="8" y="403"/>
                  </a:lnTo>
                  <a:lnTo>
                    <a:pt x="26" y="435"/>
                  </a:lnTo>
                  <a:lnTo>
                    <a:pt x="55" y="486"/>
                  </a:lnTo>
                  <a:lnTo>
                    <a:pt x="91" y="553"/>
                  </a:lnTo>
                  <a:lnTo>
                    <a:pt x="135" y="636"/>
                  </a:lnTo>
                  <a:lnTo>
                    <a:pt x="184" y="733"/>
                  </a:lnTo>
                  <a:lnTo>
                    <a:pt x="237" y="841"/>
                  </a:lnTo>
                  <a:lnTo>
                    <a:pt x="293" y="961"/>
                  </a:lnTo>
                  <a:lnTo>
                    <a:pt x="295" y="962"/>
                  </a:lnTo>
                  <a:lnTo>
                    <a:pt x="298" y="962"/>
                  </a:lnTo>
                  <a:lnTo>
                    <a:pt x="300" y="960"/>
                  </a:lnTo>
                  <a:lnTo>
                    <a:pt x="300" y="958"/>
                  </a:lnTo>
                  <a:lnTo>
                    <a:pt x="303" y="944"/>
                  </a:lnTo>
                  <a:lnTo>
                    <a:pt x="294" y="944"/>
                  </a:lnTo>
                  <a:lnTo>
                    <a:pt x="247" y="843"/>
                  </a:lnTo>
                  <a:lnTo>
                    <a:pt x="202" y="749"/>
                  </a:lnTo>
                  <a:lnTo>
                    <a:pt x="159" y="664"/>
                  </a:lnTo>
                  <a:lnTo>
                    <a:pt x="119" y="588"/>
                  </a:lnTo>
                  <a:lnTo>
                    <a:pt x="84" y="522"/>
                  </a:lnTo>
                  <a:lnTo>
                    <a:pt x="55" y="469"/>
                  </a:lnTo>
                  <a:lnTo>
                    <a:pt x="32" y="427"/>
                  </a:lnTo>
                  <a:lnTo>
                    <a:pt x="16" y="400"/>
                  </a:lnTo>
                  <a:lnTo>
                    <a:pt x="34" y="400"/>
                  </a:lnTo>
                  <a:lnTo>
                    <a:pt x="5" y="384"/>
                  </a:lnTo>
                  <a:close/>
                  <a:moveTo>
                    <a:pt x="1043" y="23"/>
                  </a:moveTo>
                  <a:lnTo>
                    <a:pt x="1029" y="23"/>
                  </a:lnTo>
                  <a:lnTo>
                    <a:pt x="939" y="98"/>
                  </a:lnTo>
                  <a:lnTo>
                    <a:pt x="856" y="170"/>
                  </a:lnTo>
                  <a:lnTo>
                    <a:pt x="781" y="240"/>
                  </a:lnTo>
                  <a:lnTo>
                    <a:pt x="713" y="307"/>
                  </a:lnTo>
                  <a:lnTo>
                    <a:pt x="652" y="372"/>
                  </a:lnTo>
                  <a:lnTo>
                    <a:pt x="597" y="433"/>
                  </a:lnTo>
                  <a:lnTo>
                    <a:pt x="549" y="491"/>
                  </a:lnTo>
                  <a:lnTo>
                    <a:pt x="506" y="546"/>
                  </a:lnTo>
                  <a:lnTo>
                    <a:pt x="469" y="597"/>
                  </a:lnTo>
                  <a:lnTo>
                    <a:pt x="437" y="644"/>
                  </a:lnTo>
                  <a:lnTo>
                    <a:pt x="410" y="687"/>
                  </a:lnTo>
                  <a:lnTo>
                    <a:pt x="359" y="779"/>
                  </a:lnTo>
                  <a:lnTo>
                    <a:pt x="325" y="854"/>
                  </a:lnTo>
                  <a:lnTo>
                    <a:pt x="304" y="909"/>
                  </a:lnTo>
                  <a:lnTo>
                    <a:pt x="294" y="944"/>
                  </a:lnTo>
                  <a:lnTo>
                    <a:pt x="303" y="944"/>
                  </a:lnTo>
                  <a:lnTo>
                    <a:pt x="304" y="939"/>
                  </a:lnTo>
                  <a:lnTo>
                    <a:pt x="321" y="887"/>
                  </a:lnTo>
                  <a:lnTo>
                    <a:pt x="356" y="803"/>
                  </a:lnTo>
                  <a:lnTo>
                    <a:pt x="418" y="691"/>
                  </a:lnTo>
                  <a:lnTo>
                    <a:pt x="443" y="650"/>
                  </a:lnTo>
                  <a:lnTo>
                    <a:pt x="472" y="607"/>
                  </a:lnTo>
                  <a:lnTo>
                    <a:pt x="507" y="559"/>
                  </a:lnTo>
                  <a:lnTo>
                    <a:pt x="545" y="509"/>
                  </a:lnTo>
                  <a:lnTo>
                    <a:pt x="589" y="455"/>
                  </a:lnTo>
                  <a:lnTo>
                    <a:pt x="638" y="399"/>
                  </a:lnTo>
                  <a:lnTo>
                    <a:pt x="693" y="340"/>
                  </a:lnTo>
                  <a:lnTo>
                    <a:pt x="754" y="278"/>
                  </a:lnTo>
                  <a:lnTo>
                    <a:pt x="821" y="214"/>
                  </a:lnTo>
                  <a:lnTo>
                    <a:pt x="894" y="147"/>
                  </a:lnTo>
                  <a:lnTo>
                    <a:pt x="974" y="79"/>
                  </a:lnTo>
                  <a:lnTo>
                    <a:pt x="1043" y="23"/>
                  </a:lnTo>
                  <a:close/>
                  <a:moveTo>
                    <a:pt x="34" y="400"/>
                  </a:moveTo>
                  <a:lnTo>
                    <a:pt x="16" y="400"/>
                  </a:lnTo>
                  <a:lnTo>
                    <a:pt x="298" y="556"/>
                  </a:lnTo>
                  <a:lnTo>
                    <a:pt x="301" y="556"/>
                  </a:lnTo>
                  <a:lnTo>
                    <a:pt x="302" y="555"/>
                  </a:lnTo>
                  <a:lnTo>
                    <a:pt x="310" y="546"/>
                  </a:lnTo>
                  <a:lnTo>
                    <a:pt x="298" y="546"/>
                  </a:lnTo>
                  <a:lnTo>
                    <a:pt x="34" y="400"/>
                  </a:lnTo>
                  <a:close/>
                  <a:moveTo>
                    <a:pt x="1059" y="0"/>
                  </a:moveTo>
                  <a:lnTo>
                    <a:pt x="1048" y="5"/>
                  </a:lnTo>
                  <a:lnTo>
                    <a:pt x="1025" y="16"/>
                  </a:lnTo>
                  <a:lnTo>
                    <a:pt x="989" y="33"/>
                  </a:lnTo>
                  <a:lnTo>
                    <a:pt x="942" y="58"/>
                  </a:lnTo>
                  <a:lnTo>
                    <a:pt x="884" y="91"/>
                  </a:lnTo>
                  <a:lnTo>
                    <a:pt x="817" y="131"/>
                  </a:lnTo>
                  <a:lnTo>
                    <a:pt x="742" y="179"/>
                  </a:lnTo>
                  <a:lnTo>
                    <a:pt x="661" y="236"/>
                  </a:lnTo>
                  <a:lnTo>
                    <a:pt x="575" y="300"/>
                  </a:lnTo>
                  <a:lnTo>
                    <a:pt x="485" y="374"/>
                  </a:lnTo>
                  <a:lnTo>
                    <a:pt x="392" y="455"/>
                  </a:lnTo>
                  <a:lnTo>
                    <a:pt x="298" y="546"/>
                  </a:lnTo>
                  <a:lnTo>
                    <a:pt x="310" y="546"/>
                  </a:lnTo>
                  <a:lnTo>
                    <a:pt x="387" y="471"/>
                  </a:lnTo>
                  <a:lnTo>
                    <a:pt x="472" y="396"/>
                  </a:lnTo>
                  <a:lnTo>
                    <a:pt x="554" y="327"/>
                  </a:lnTo>
                  <a:lnTo>
                    <a:pt x="634" y="266"/>
                  </a:lnTo>
                  <a:lnTo>
                    <a:pt x="710" y="211"/>
                  </a:lnTo>
                  <a:lnTo>
                    <a:pt x="781" y="164"/>
                  </a:lnTo>
                  <a:lnTo>
                    <a:pt x="846" y="123"/>
                  </a:lnTo>
                  <a:lnTo>
                    <a:pt x="905" y="89"/>
                  </a:lnTo>
                  <a:lnTo>
                    <a:pt x="955" y="61"/>
                  </a:lnTo>
                  <a:lnTo>
                    <a:pt x="997" y="39"/>
                  </a:lnTo>
                  <a:lnTo>
                    <a:pt x="1029" y="23"/>
                  </a:lnTo>
                  <a:lnTo>
                    <a:pt x="1043" y="23"/>
                  </a:lnTo>
                  <a:lnTo>
                    <a:pt x="1062" y="7"/>
                  </a:lnTo>
                  <a:lnTo>
                    <a:pt x="1063" y="5"/>
                  </a:lnTo>
                  <a:lnTo>
                    <a:pt x="1061" y="1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rgbClr val="71BF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AutoShape 11">
              <a:extLst>
                <a:ext uri="{FF2B5EF4-FFF2-40B4-BE49-F238E27FC236}">
                  <a16:creationId xmlns:a16="http://schemas.microsoft.com/office/drawing/2014/main" id="{961AFB4E-A1B7-FB7E-F310-DBC20B941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" y="936"/>
              <a:ext cx="3999" cy="6"/>
            </a:xfrm>
            <a:custGeom>
              <a:avLst/>
              <a:gdLst>
                <a:gd name="T0" fmla="*/ 1752 w 3999"/>
                <a:gd name="T1" fmla="*/ 1324 h 6"/>
                <a:gd name="T2" fmla="*/ 0 w 3999"/>
                <a:gd name="T3" fmla="*/ 1324 h 6"/>
                <a:gd name="T4" fmla="*/ 0 w 3999"/>
                <a:gd name="T5" fmla="*/ 1330 h 6"/>
                <a:gd name="T6" fmla="*/ 1752 w 3999"/>
                <a:gd name="T7" fmla="*/ 1330 h 6"/>
                <a:gd name="T8" fmla="*/ 1752 w 3999"/>
                <a:gd name="T9" fmla="*/ 1324 h 6"/>
                <a:gd name="T10" fmla="*/ 3999 w 3999"/>
                <a:gd name="T11" fmla="*/ 1324 h 6"/>
                <a:gd name="T12" fmla="*/ 2015 w 3999"/>
                <a:gd name="T13" fmla="*/ 1324 h 6"/>
                <a:gd name="T14" fmla="*/ 2015 w 3999"/>
                <a:gd name="T15" fmla="*/ 1329 h 6"/>
                <a:gd name="T16" fmla="*/ 3999 w 3999"/>
                <a:gd name="T17" fmla="*/ 1329 h 6"/>
                <a:gd name="T18" fmla="*/ 3999 w 3999"/>
                <a:gd name="T19" fmla="*/ 1324 h 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99" h="6">
                  <a:moveTo>
                    <a:pt x="1752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752" y="6"/>
                  </a:lnTo>
                  <a:lnTo>
                    <a:pt x="1752" y="0"/>
                  </a:lnTo>
                  <a:close/>
                  <a:moveTo>
                    <a:pt x="3999" y="0"/>
                  </a:moveTo>
                  <a:lnTo>
                    <a:pt x="2015" y="0"/>
                  </a:lnTo>
                  <a:lnTo>
                    <a:pt x="2015" y="5"/>
                  </a:lnTo>
                  <a:lnTo>
                    <a:pt x="3999" y="5"/>
                  </a:lnTo>
                  <a:lnTo>
                    <a:pt x="3999" y="0"/>
                  </a:ln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74745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76520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None/>
            </a:pPr>
            <a:r>
              <a:rPr lang="en-US" altLang="en-US" sz="2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</a:t>
            </a:r>
            <a:r>
              <a:rPr lang="en-US" sz="2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Verification of Non-Financial Data </a:t>
            </a:r>
            <a:endParaRPr lang="en-IN" sz="2600" b="1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81133-2D62-4B4C-994A-8F1B5CC810A1}"/>
              </a:ext>
            </a:extLst>
          </p:cNvPr>
          <p:cNvSpPr txBox="1"/>
          <p:nvPr/>
        </p:nvSpPr>
        <p:spPr>
          <a:xfrm>
            <a:off x="225502" y="1192036"/>
            <a:ext cx="9769537" cy="285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Symbiotec Pharma Private Limited Rau Indore for FY 2023-24</a:t>
            </a:r>
          </a:p>
          <a:p>
            <a:pPr marL="342900" indent="-34290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Symbiotec Pharma Private Limited SEZ Pithampur for FY 2023-24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5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AAE5793-951C-BC29-79BB-C928BDB6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F280FD4B-585E-7023-2DB3-AF6E1DB29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7331" y="109249"/>
            <a:ext cx="81923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Due Diligence (Acquisition)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52125-2AF6-DC7D-4C5E-C56423EA1C69}"/>
              </a:ext>
            </a:extLst>
          </p:cNvPr>
          <p:cNvSpPr txBox="1"/>
          <p:nvPr/>
        </p:nvSpPr>
        <p:spPr>
          <a:xfrm>
            <a:off x="143596" y="1059664"/>
            <a:ext cx="12048403" cy="3262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EHS &amp; Legal Due diligence during Acquisition </a:t>
            </a: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manufacturing unit in Andhra Pradesh (2 No) </a:t>
            </a: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manufacturing unit in Ankleshwar, Gujarat</a:t>
            </a: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Edible Oil company unit in Kakinada ( Andhra Pradesh) </a:t>
            </a: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Edible Oil company unit in Raipur (Chhattisgarh) </a:t>
            </a: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Chemical Manufacturing company in Hyderabad</a:t>
            </a: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Agrochemical Formulation (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Pesticide, Insecticides and Herbicides)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in Halol Gujarat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448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7685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67693" y="997139"/>
            <a:ext cx="9289032" cy="83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Pharmaceutical Supply Chain Initiative Audit (PSCI) – EHS </a:t>
            </a:r>
            <a:r>
              <a:rPr lang="en-US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( 20 Audits)</a:t>
            </a:r>
            <a:endParaRPr lang="en-IN" b="1" dirty="0">
              <a:solidFill>
                <a:srgbClr val="0000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81133-2D62-4B4C-994A-8F1B5CC810A1}"/>
              </a:ext>
            </a:extLst>
          </p:cNvPr>
          <p:cNvSpPr txBox="1"/>
          <p:nvPr/>
        </p:nvSpPr>
        <p:spPr>
          <a:xfrm>
            <a:off x="219591" y="1776830"/>
            <a:ext cx="6236627" cy="361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Hikal Limited – Panoli Plant, Unit 1 Jigani Bangalore, Unit 2 Jigani Bangalore (Oct 2021 &amp; July 2022)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SYMED Lab Limited Unit 2 and Unit 4 Hyderabad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Cadilla Healthcare Limited Ahmedabad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Biocon Biologics Limited Bangalore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AURO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Laboratories Limited – Tarapur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Catapharma Chemicals Pvt Ltd. Sinnar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Ashish life Science Pvt Limited Boisar (Tarapur)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12E0A-1001-4108-BA40-87F16D334550}"/>
              </a:ext>
            </a:extLst>
          </p:cNvPr>
          <p:cNvSpPr txBox="1"/>
          <p:nvPr/>
        </p:nvSpPr>
        <p:spPr>
          <a:xfrm>
            <a:off x="6664037" y="1666947"/>
            <a:ext cx="5460270" cy="432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Aurobindo Pharma Limited Hyderabad Unit III,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Unit-VI,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Unit XII and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Unit-XVII (CuraTeQ Biologics)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Divi’s Laboratories Ltd Unit 1 Hyderabad and Unit 2 Vishakhapatnam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NATCO Pharma Limited – Hyderabad 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Centaur Pharmaceuticals Private Limited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Pune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DFE Pharma India Private Limited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- Cuddalore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373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68854" y="933517"/>
            <a:ext cx="12123146" cy="5355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 Gap Assessment Audit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Star Limited for Cyclopentane Storage and Uses facility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Tagros Chemicals India Pvt Limited Dahej Plant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Tagros Chemicals India Pvt Limited Panoli Plant  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Jhajjar Power Limited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Indianoil Petronas Private Limited Ennore (Chennai) LPG Bottling Plant 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Vedanta Limited – Sesa Goa Iron Ore (Blast Furnace)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Indo Rama Synthetics (India) Limited, Butibori, Nagpur 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 Implementation audit - CCPS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Coromandel International Limited Ankleshwar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Bharat Petroleum Corporation Limited (BPCL) Refinery Mumbai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 &amp; Technical Safety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Gas network @ Jindal Steel and Power Limited Angul, Orissa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4ED4AD-0DFA-4012-832A-DEC48B77D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54" y="151268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</p:spTree>
    <p:extLst>
      <p:ext uri="{BB962C8B-B14F-4D97-AF65-F5344CB8AC3E}">
        <p14:creationId xmlns:p14="http://schemas.microsoft.com/office/powerpoint/2010/main" val="2981762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3924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710EA-676E-C7C8-961E-3E98B16BE4DF}"/>
              </a:ext>
            </a:extLst>
          </p:cNvPr>
          <p:cNvSpPr txBox="1"/>
          <p:nvPr/>
        </p:nvSpPr>
        <p:spPr>
          <a:xfrm>
            <a:off x="116816" y="647911"/>
            <a:ext cx="12075184" cy="615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Compliance Audit Schedule XIX (Chemical Works) &amp; XIV (Process involving use or manufacturing of CS2 OR H2S) Gujarat Factory Rule 1963 </a:t>
            </a: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Grasim Industries Limited Vilayat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Management, Workplace Safety &amp; Industrial Hygiene Audit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Jubilant Ingrevia Vilayat, Bharuch  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Jubilant Ingrevia Savli, Vadodara   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Jubilant Ingrevia Nira, Pune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Jubilant Ingrevia Ambernath, Mumbai  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Process Safety Management &amp; Electrical Safety </a:t>
            </a: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Municipal Solid Waste (MSW) Processing Facility audit in Madhya Pradesh &amp; Chhattisgarh – 5 No.  </a:t>
            </a: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Construction Safety Audit ( Road Project)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Adani Road Transport Limited {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NPRPL Nanasa ( Khategaon ) Dist Harda Madhya Pradesh}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015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84924" y="996996"/>
            <a:ext cx="12107075" cy="609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14489-2018 Audit.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 Power Project Gas based 1530 MW.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DEGEN Power Project Gas based 1200 MW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Andhra Petrochemicals Limited Vishakhapatnam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Baerlocher India Additives Pvt Limited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 Industries Limited Unit 1 Jambusar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Haldyn Heinz Fine Glass Pvt Ltd., Kosamba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SRF Limited Dahej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 Industries Limited Unit 2 Jambusar</a:t>
            </a:r>
          </a:p>
          <a:p>
            <a:pPr lvl="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EHS, Fire, Electrical &amp; Industrial Hygiene Audit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Corona Remedies Limited Bhayla Plant Ahmedabad</a:t>
            </a:r>
          </a:p>
          <a:p>
            <a:pPr marL="342900" lvl="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Corona Remedies Limited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Village Jatoli, Distt.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Corona Remedies Limited Warehouse @ Matoda Ahmedabad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Corona Remedies Limited Corporate Office Ahmedabad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DFC3DDE5-65F0-4A69-A76E-B699B15CB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</p:spTree>
    <p:extLst>
      <p:ext uri="{BB962C8B-B14F-4D97-AF65-F5344CB8AC3E}">
        <p14:creationId xmlns:p14="http://schemas.microsoft.com/office/powerpoint/2010/main" val="3151021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53542" y="786437"/>
            <a:ext cx="12006840" cy="5785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&amp; Fire Safety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Audit as Per National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Code 2016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J Somaiya Campus (14 Building) @ Vidhyavihar Mumbai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DLF Building Number 8 Wing A, B, C @ Gurgaon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Blue Star Limited, Blue star Innovation Center Thane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Fire Prevention and Fire Fighting adequacy audit 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Blue Star Limited,  Wada Plant Maharashtra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Hetero Plasma Sciences Private Limited Penjeria Village, Kothur, RR District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Corona Remedies Limited Bhayla Plant Ahmedabad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Corona Remedies Limited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Village Jatoli, Distt.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Solan, Himachal Pradesh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Electrical Safety Audit </a:t>
            </a:r>
          </a:p>
          <a:p>
            <a:pPr marL="3429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Mundra Delhi Pipeline (1054 KM) for HPCL as per OISD Standard (137, 173, 143 &amp; 145) and Electricity Rule 1956     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Audit of 66 warehouses all over India for Agility Logistics Pvt Limited</a:t>
            </a:r>
          </a:p>
          <a:p>
            <a:pPr marL="3429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Hetero Plasma Sciences Private Limited Penjeria Village, Kothur, RR District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DFC3DDE5-65F0-4A69-A76E-B699B15CB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</p:spTree>
    <p:extLst>
      <p:ext uri="{BB962C8B-B14F-4D97-AF65-F5344CB8AC3E}">
        <p14:creationId xmlns:p14="http://schemas.microsoft.com/office/powerpoint/2010/main" val="1800643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22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CF1260-5AAB-43F9-A446-245EA023F101}"/>
              </a:ext>
            </a:extLst>
          </p:cNvPr>
          <p:cNvSpPr txBox="1"/>
          <p:nvPr/>
        </p:nvSpPr>
        <p:spPr>
          <a:xfrm>
            <a:off x="157451" y="1073518"/>
            <a:ext cx="9289032" cy="3078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Legal Compliance audit 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Parijat Industries (India) Pvt Limited Unit 2 Ambala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Aarti Industries Limited Unit 1 Jhagadia (Bharuch)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Solenis Chemicals India Private Limited, Ankleshwar  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Health, Safety, Enviroment and Ergonomics Audit (36 Element)   </a:t>
            </a: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GB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COESIA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Chakan (Pune)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90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28523" y="969986"/>
            <a:ext cx="12163477" cy="113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Safety Assurance Audit for City Gas Distribution Network which include City Gate Station District Regulating Station, Steel &amp; MDPE Pipeline and LCV carrying cascade,  CNG Station(Mother /Online /Daughter booster / Daughter)  for Adani Total Gas Limited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650D4-ED5A-49F2-BCC7-5554DF6FB42E}"/>
              </a:ext>
            </a:extLst>
          </p:cNvPr>
          <p:cNvSpPr txBox="1"/>
          <p:nvPr/>
        </p:nvSpPr>
        <p:spPr>
          <a:xfrm>
            <a:off x="284219" y="2357652"/>
            <a:ext cx="3564396" cy="3667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Mahendragarh (Haryana),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Palwal (Haryana),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Faridabad (Haryana),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Khurja (Uttar Pradesh),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Jhansi (Uttar Pradesh),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Anuppur ( Madhya Pradesh),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Udaipur (Rajasthan),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Chittorgarh (Rajasthan)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Bhilwara (Rajasthan)  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923A0852-C720-4837-BA2C-F99651090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47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3955B-F66E-40E7-B9D5-D33187188306}"/>
              </a:ext>
            </a:extLst>
          </p:cNvPr>
          <p:cNvSpPr txBox="1"/>
          <p:nvPr/>
        </p:nvSpPr>
        <p:spPr>
          <a:xfrm>
            <a:off x="4583111" y="2357652"/>
            <a:ext cx="5464608" cy="1641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Bhadrak (Orissa 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Udupi (Karnataka)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Gwalior (Madhya Pradesh)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Gobardhan Varanasi Foundation SPV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12314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134652" y="917349"/>
            <a:ext cx="12057348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My Sustainability Index 4.0 &amp; 5.0 </a:t>
            </a:r>
            <a:r>
              <a:rPr lang="en-US" sz="1900" b="1" dirty="0">
                <a:latin typeface="Calibri" panose="020F0502020204030204" pitchFamily="34" charset="0"/>
                <a:cs typeface="Calibri" panose="020F0502020204030204" pitchFamily="34" charset="0"/>
              </a:rPr>
              <a:t>( Safety Culture and Process Safety) (Quarterly Audit )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(Total 25 Audits as on date)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Dr. Reddy's Laboratory CTO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Unit 1 Hyderabad 502325 (Q2 &amp;Q3 FY 2022-23, Q2, Q3 &amp; Q4 FY 2023-24)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Dr. Reddy's Laboratory CTO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Unit 2 Hyderabad 502325 (Q1, Q2 &amp; Q3 FY 2022-23, Q2, Q3 &amp; Q4 FY 2023-24)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Dr. Reddy's Laboratory CTO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Unit 3 Hyderabad 502325 (Q2 &amp; Q3 FY 2022-23, Q2, Q3 &amp; Q4 FY 2023-24)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Dr. Reddy's Laboratory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CTO Unit 5 </a:t>
            </a: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Peddadevulapally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(Q1 &amp; Q3 FY 2022-23, Q2, Q3 &amp; Q4 FY 2023-24)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Dr. Reddy's Laboratory CTO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SEZ Vishakhapatnam  (Q1 FY 2023-24)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Aurigene Pharmaceutical Services Limited (CRO/CDMO) (Q1 FY 2023-24)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Integrated Product Development Organization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(Q1 FY 2023-24)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Dr Reddy Laboratory – (Biologics) Hyderabad 502325 (Q4 FY 2023-24)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4ED4AD-0DFA-4012-832A-DEC48B77D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Audit      </a:t>
            </a:r>
          </a:p>
        </p:txBody>
      </p:sp>
    </p:spTree>
    <p:extLst>
      <p:ext uri="{BB962C8B-B14F-4D97-AF65-F5344CB8AC3E}">
        <p14:creationId xmlns:p14="http://schemas.microsoft.com/office/powerpoint/2010/main" val="1392980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143121" y="853808"/>
            <a:ext cx="11979606" cy="530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Agrochemicals (Pesticides, Insecticides and Herbicides)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Adama India Pvt Limited 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Design phase of New Pilot Plant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Bharat Rasayan Limited Dahej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– Clodinafop Propargyl (Herbicide)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Jubilant Ingrevia Limited Vilayat </a:t>
            </a: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- Pymetrozin (CAS Number 123312-89-0)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Shogun Organics Limited Daund, Pune (Maharashtra) -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Benzoquinone Technical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Tagros India Pvt Limited (Dahej &amp; Ankleshwar)</a:t>
            </a:r>
          </a:p>
          <a:p>
            <a:pPr marL="809625" indent="-457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Manufacturing of </a:t>
            </a: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Cypermethric Acid chloride and by product such as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</a:rPr>
              <a:t>Sodium Sulphite, Sodium Bisulphite  Ammonium Chloride and Cupric Hydroxide  </a:t>
            </a:r>
            <a:endParaRPr 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9625" indent="-457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Storage of ISOBUTYLENE in PESO Tank Farm area and transfer to day tank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9625" indent="-457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Storage Tank Farm area of PESO, NON-PESO, Acid and Alkali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9625" indent="-457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Sulfentrazone {DCDMT formation}</a:t>
            </a:r>
          </a:p>
          <a:p>
            <a:pPr marL="809625" indent="-457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Manufacturing of Technical Alphamethrin, N Cypermethrin, Permethrin &amp; CIS Cypermethrin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2997946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263236" y="582960"/>
            <a:ext cx="11928764" cy="5496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Agrochemical (Pesticides, Insecticides and Herbicides)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UPL Limited  (Ankleshwar, Dahej Unit 12, Jhagadia) </a:t>
            </a: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Pendimethalin (Herbicide)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TEP- Triethyl Phosphite (Continuous Process)   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Multiple Effect Evaporator (MEE)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Dichlorvos (DDVP- Insecticides)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NH3 recovery from NH4CL plant 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Methylene Chloride (MeCl) Recovery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Pilot Plant (Pyridine Recovery and SF 10)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Cyanide Killing in Wastewater Treatment Plant</a:t>
            </a: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Verdana" panose="020B0604030504040204" pitchFamily="34" charset="0"/>
              </a:rPr>
              <a:t>Methyl Chloroformate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439737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9737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EA0DFBC-0629-4F4C-A761-302150769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36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3003958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0" y="786586"/>
            <a:ext cx="12192000" cy="414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Fluorochemicals 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SRF Limited Dahej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Anhydrous Hydrogen Fluoride (AHF)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Calcium Chloride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Trichloroethylene &amp; Perchloroethylene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Chloromethanes ( Methyl Chloride, Methylene chloride, Chloroforms and Carbon Tetra Chloride)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Convergence Chemicals Dahej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– Manufacturing of Hexafluoroisopropyl Methyl Ether (HFMOP)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Piramal Pharma Limited Dahej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(earlier Convergence Chemicals) – HF Unloading &amp; Storage and Hydrogenator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endParaRPr 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3946759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98868" y="776078"/>
            <a:ext cx="11994264" cy="576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Pharmaceutical – API &amp; Formulation </a:t>
            </a: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Dr. Reddy Limited CTO SEZ Vishakhapatnam 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Spray Dryer ( Open &amp; Close Loop) </a:t>
            </a: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Dr. Reddy Limited CTO 5 </a:t>
            </a:r>
            <a:r>
              <a:rPr lang="en-IN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MIryalaguda</a:t>
            </a:r>
            <a:endParaRPr 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Fexofenadine HCL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Pantoprazole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Rabeprazole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Esomeprazole Magnesium trihydrate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Omeprazole CIP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USV Limited Lote Parshuram –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Hydrogenation</a:t>
            </a: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−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Sequent Tarapur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API manufacturing in health care – Hydrogenation </a:t>
            </a: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−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Sequent Scientific Limited Mahad -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Albendazole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−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Alivira Animal Health API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manufacturing Animal Health in Visakhapatnam (Andhra Pradesh)</a:t>
            </a: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−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Hikal Limited Hinjewadi Pune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– Hydrogenation   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156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3701632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152400" y="765983"/>
            <a:ext cx="12039600" cy="6118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Pharmaceutical – API &amp; Formulation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Par Formulation Pvt Ltd. Pithampur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-  </a:t>
            </a:r>
          </a:p>
          <a:p>
            <a:pPr marL="720725" indent="-3683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Solvent unloading in Tank Farm and Transfer to end users</a:t>
            </a:r>
          </a:p>
          <a:p>
            <a:pPr marL="720725" indent="-3683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Compounding of Argatroban Injection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Jubilant Ingrevia Limited Vilayat, Dist Bharuch  </a:t>
            </a: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Niacin </a:t>
            </a: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Niacinamide Cosmetic Grade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IN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Jubilant Ingrevia Limited Savli, Dist Vadodara  – </a:t>
            </a: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Spin Flash Dryer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Gland Pharma Limited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JNPC Parawada Visakhapatnam – Hydrogenation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Gland Pharma Limited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Pashamylaram Hyderabad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Rusan Pharma Limited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Pithampur Dhar – Utility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Laurus Labs Limited Unit – 3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, Vishakhapatnam Manufacturing of Venlafaxine Stage 2 and R-9-2 Phosphono methoxy Propyl adenine (PMPA) Stage 1 &amp; 2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Kopran Limited, Mahad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– Hazop study for </a:t>
            </a: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Stage IV of Ticagrelor  </a:t>
            </a:r>
            <a:endParaRPr 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2080481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60084" y="523220"/>
            <a:ext cx="12071831" cy="6169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Pharmaceutical – API &amp; Formulation  </a:t>
            </a: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IN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Tatva Chintan Pharma Chem Limited Dahej  </a:t>
            </a: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TODA </a:t>
            </a: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TBAB </a:t>
            </a: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MTBC </a:t>
            </a: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ALIQUAT 336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Hetero Plasma Sciences Private Limited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Penjeria Village, Kothur, RR District 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HSD Tanker Unloading to Tank and Transfer to Boiler, DG set, Fire Water Pump Day Tank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Fresh Ethanol unloading from Tanker to Tank &amp; Transfer to day tank,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Spent Ethanol Loading, 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Pipe Natural Gas to Boiler 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Fractionation and Filtration  </a:t>
            </a:r>
          </a:p>
          <a:p>
            <a:pPr marL="352425"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−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Viyash Life Sciences Private Limited Taloja 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Vilazodone Hydrochloride (VLH-2)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Gycopyrolate Hydrochloride (GCP-2) 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2187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1985082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38AE43D-5228-E22F-6906-9E1B6088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B47670-43F0-1847-8B83-0871B6F2E4CC}"/>
              </a:ext>
            </a:extLst>
          </p:cNvPr>
          <p:cNvSpPr txBox="1"/>
          <p:nvPr/>
        </p:nvSpPr>
        <p:spPr>
          <a:xfrm>
            <a:off x="90872" y="840720"/>
            <a:ext cx="12101128" cy="3332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Pharmaceutical – API &amp; Formulation  </a:t>
            </a:r>
          </a:p>
          <a:p>
            <a:pPr indent="-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Symed Labs Limited Hyderabad Unit 4 (Part of Viyash Group)  </a:t>
            </a:r>
            <a:endParaRPr lang="en-IN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Sertraline Product (Hydrogenation)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Pregabalin Product (Cyanation)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Albendazole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695325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Cyclohexanone (Bromination) </a:t>
            </a:r>
          </a:p>
          <a:p>
            <a:pPr marL="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DA22562-007D-487D-6BF6-C8DC491AA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1308020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869921B-73CB-68F9-F7D1-1622244A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7ACAE8B5-3544-8827-D328-A75716490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214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7D2BA-0287-C99E-4020-97ED703563CD}"/>
              </a:ext>
            </a:extLst>
          </p:cNvPr>
          <p:cNvSpPr txBox="1"/>
          <p:nvPr/>
        </p:nvSpPr>
        <p:spPr>
          <a:xfrm>
            <a:off x="52264" y="584434"/>
            <a:ext cx="12139736" cy="659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FMCG  </a:t>
            </a:r>
          </a:p>
          <a:p>
            <a:pPr marL="285750" indent="434975" algn="just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‒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</a:rPr>
              <a:t>DIAGEAO - United Spirit Limited Parmori, Nasik </a:t>
            </a:r>
          </a:p>
          <a:p>
            <a:pPr marL="1247775" indent="-5270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Auto Cooperage Project consist of ( LPG Bank, Charring, De Charring, Hoop driving, Safety Bung &amp; Auto Fill and Testing  </a:t>
            </a:r>
          </a:p>
          <a:p>
            <a:pPr marL="1247775" indent="-5270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Manufacturing of Fresh Malt Sprit, Blending, Utility (Boiler, Cooling Tower, air compressor,  Effluent Treatment Plant) – 85 (P&amp;ID) </a:t>
            </a:r>
          </a:p>
          <a:p>
            <a:pPr marL="285750" indent="434975" algn="just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‒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</a:rPr>
              <a:t>Hindustan Coco Cola Beverages (Green Filed Project) Lote Parshuram Maharashtra  </a:t>
            </a:r>
          </a:p>
          <a:p>
            <a:pPr marL="1247775" indent="-5270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 Manufacturing of Beverages ( 30 P&amp;ID)  </a:t>
            </a:r>
          </a:p>
          <a:p>
            <a:pPr marL="285750" indent="434975" algn="just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‒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</a:rPr>
              <a:t>Hindustan Coco Cola Beverages Thimmapur, Telangana  - </a:t>
            </a: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Oxy Hydrogen Generator   </a:t>
            </a:r>
          </a:p>
          <a:p>
            <a:pPr marL="285750" indent="434975" algn="just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‒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</a:rPr>
              <a:t>Hindustan Coco Cola Beverages Goblej Ahmedabad   </a:t>
            </a:r>
          </a:p>
          <a:p>
            <a:pPr marL="1247775" indent="-5270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10 &amp; 8 Ton/hour briquette Fire Boiler, </a:t>
            </a:r>
          </a:p>
          <a:p>
            <a:pPr marL="1247775" indent="-5270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4 Ton/Hour LDO Boiler, </a:t>
            </a:r>
          </a:p>
          <a:p>
            <a:pPr marL="1247775" indent="-5270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165TR X1, 225TR X 2, 300TR X 1, &amp; 400TR X 2 Ammonia Refrigeration system       </a:t>
            </a:r>
          </a:p>
          <a:p>
            <a:pPr marL="285750" indent="434975" algn="just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‒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</a:rPr>
              <a:t>PepsiCo India Holding Pvt Limited, Pune   - </a:t>
            </a: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Oxy Hydrogen Generator   </a:t>
            </a:r>
          </a:p>
          <a:p>
            <a:pPr marL="285750" indent="434975" algn="just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‒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</a:rPr>
              <a:t>Mahanand Dairy, Goregaon East, Mumbai Maharashtra - </a:t>
            </a: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Ammonia Refrigeration system 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3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5638219-EFC8-26D3-C42E-72999C7C3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B251584C-04F3-762D-033F-14CA96705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214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C17FBE-C928-EF80-2219-E6DF9FF2B9C0}"/>
              </a:ext>
            </a:extLst>
          </p:cNvPr>
          <p:cNvSpPr txBox="1"/>
          <p:nvPr/>
        </p:nvSpPr>
        <p:spPr>
          <a:xfrm>
            <a:off x="52264" y="855906"/>
            <a:ext cx="12139736" cy="3839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Specialty Chemicals  </a:t>
            </a:r>
          </a:p>
          <a:p>
            <a:pPr marL="352425" indent="-3524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­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MALLAK SPECIALTIES PVT LTD Mahad </a:t>
            </a:r>
          </a:p>
          <a:p>
            <a:pPr marL="1247775" indent="-5270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Ethylene Oxide / Propylene Oxide derivative   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₋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DIC India Limited - 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Printing ink, Adhesives and Resin at Bangalore and Kolkata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₋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Prasol Chemicals Limited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Mahad (Manufacturing of SDIB)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₋"/>
            </a:pPr>
            <a:r>
              <a:rPr lang="en-US" b="1" dirty="0">
                <a:latin typeface="Calibri" panose="020F0502020204030204" pitchFamily="34" charset="0"/>
                <a:cs typeface="Calibri" pitchFamily="34" charset="0"/>
              </a:rPr>
              <a:t>DCM Shriram, Jhagadia (Bharuch) –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Hazop study for 75 Tons per day HCL furnace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₋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Shalini Organics Private Limited Paithan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TC VI (Hydrogenation) &amp; TC VII  </a:t>
            </a:r>
            <a:endParaRPr lang="en-IN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40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-1" y="806090"/>
            <a:ext cx="12143509" cy="537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Biogas ( Compressed Bio Gas)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Gobardhan Varanasi Foundation SPV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809625" indent="-369888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Raw Biogas Production Digester ( 55% Methane, 40% CO2 &amp; 1000PPM H2S)  and Compressed Biogas (95% Methane)   </a:t>
            </a:r>
          </a:p>
          <a:p>
            <a:pPr marL="439737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Oil &amp; Gas Refinery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Hindustan Petroleum Corporation Limited Mumbai Refinery </a:t>
            </a:r>
          </a:p>
          <a:p>
            <a:pPr marL="342900" indent="46037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New ATF Pipeline</a:t>
            </a:r>
          </a:p>
          <a:p>
            <a:pPr marL="342900" indent="46037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Hexane Production using ISOM DIH using Dividing Wall Column (DWC)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Kuwait Gulf Oil Company</a:t>
            </a:r>
          </a:p>
          <a:p>
            <a:pPr marL="719138" indent="-3619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Replacement of 12” crude oil pipeline with 16” crude oil pipeline along with associated facility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⁻"/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1404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3620592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74201" y="848465"/>
            <a:ext cx="11825700" cy="539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Cement </a:t>
            </a:r>
          </a:p>
          <a:p>
            <a:pPr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Martha Cement (Ambuja / Adani Cement) </a:t>
            </a: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15MW Power Generation through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Waste Heat Recovery system 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1950" indent="-3619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Chanda Cement (ACC / Adani  Cement) </a:t>
            </a: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247775" indent="-5270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15MW Power Generation through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Waste Heat Recovery system 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Casting Refractories </a:t>
            </a:r>
          </a:p>
          <a:p>
            <a:pPr marL="87313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Vesuvius India Ltd. Kolkata</a:t>
            </a:r>
          </a:p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Alumina Refinery  </a:t>
            </a:r>
          </a:p>
          <a:p>
            <a:pPr marL="87313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Vedanta Limited Lanjigarh </a:t>
            </a: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Alumina Refinery Expansion Project 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(190 P&amp;ID)</a:t>
            </a:r>
          </a:p>
          <a:p>
            <a:pPr marL="87313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Vedanta Limited Jharsuguda, </a:t>
            </a: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Billet and Ingot manufacturing   </a:t>
            </a:r>
          </a:p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Edible Oil  </a:t>
            </a:r>
          </a:p>
          <a:p>
            <a:pPr marL="352425" indent="-26511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</a:rPr>
              <a:t>Ruyat Oil Ltd (Olam Agri) Ilorin, Nigeria </a:t>
            </a:r>
          </a:p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dirty="0">
                <a:latin typeface="Calibri" panose="020F0502020204030204" pitchFamily="34" charset="0"/>
                <a:cs typeface="Times New Roman" panose="02020603050405020304" pitchFamily="18" charset="0"/>
              </a:rPr>
              <a:t>Unloading of Hexane in Storage tank from drum and uses of hexane at various stages during oil extraction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EA0DFBC-0629-4F4C-A761-302150769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778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</p:spTree>
    <p:extLst>
      <p:ext uri="{BB962C8B-B14F-4D97-AF65-F5344CB8AC3E}">
        <p14:creationId xmlns:p14="http://schemas.microsoft.com/office/powerpoint/2010/main" val="369726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3" y="68247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52904" y="714757"/>
            <a:ext cx="12028259" cy="538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Steel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‒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JSW Steel Limited Toranagallu, Karnataka  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Oxygen Line PRS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Steam Line PRS 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2 x 25 KLPH DM water Plant </a:t>
            </a:r>
          </a:p>
          <a:p>
            <a:pPr marL="352425" indent="-352425" algn="just"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‒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</a:rPr>
              <a:t>JSW Steel Limited Toranagallu (Karnataka) – 106 P&amp;ID 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Coke Oven -5 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Waste Heat Recovery Boiler ( 95 Ton/ Hour, 128 Kg/CM2 Pressure) Coke Dry Quenching 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By Product (Coke Oven Gas, Coal Tar,  Crude Benzol &amp; Sulphur)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‒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</a:rPr>
              <a:t>Arcelor Mittal Nippon Steel India (AMNS) Hazira </a:t>
            </a:r>
            <a:endParaRPr 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Cold Rolling Mill - 2 (Continuous Galvanising Line 3)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Cold Rolling Mill – 2 (Acid Regeneration Process) 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Cold Rolling Mill – 2 ( PLTCM) </a:t>
            </a:r>
          </a:p>
          <a:p>
            <a:pPr marL="1247775" indent="-5270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Utility ( Steam, Emergency Nitrogen and Natural Gas) 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03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60BCC-D379-41A1-6C67-AD9787F99B73}"/>
              </a:ext>
            </a:extLst>
          </p:cNvPr>
          <p:cNvSpPr txBox="1"/>
          <p:nvPr/>
        </p:nvSpPr>
        <p:spPr>
          <a:xfrm>
            <a:off x="84999" y="523220"/>
            <a:ext cx="12022002" cy="6082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Plant</a:t>
            </a:r>
          </a:p>
          <a:p>
            <a:pPr indent="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</a:rPr>
              <a:t>NTPC – KORBA (Chhattisgarh) </a:t>
            </a:r>
          </a:p>
          <a:p>
            <a:pPr marL="809625" indent="-457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CW Chlorination Stage 1&amp; 2, CW Chlorination Stage 3, PT Chlorination and Hydrogen generation, Storage and Filling in cylinder   </a:t>
            </a:r>
          </a:p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Fertilizer </a:t>
            </a:r>
          </a:p>
          <a:p>
            <a:pPr marL="352425" indent="-26511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</a:rPr>
              <a:t>Indian Farmer Fertilizer Cooperative Society (IFFCO)Aonla (Uttar Pradesh)  </a:t>
            </a:r>
          </a:p>
          <a:p>
            <a:pPr marL="808038" indent="-446088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Decommissioning of 10000 MT Ammonia Storage Tank (T 3301) </a:t>
            </a:r>
          </a:p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Polymer / Plastic </a:t>
            </a:r>
          </a:p>
          <a:p>
            <a:pPr marL="87313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Shakun Polymers Private Limited, Halol  </a:t>
            </a:r>
          </a:p>
          <a:p>
            <a:pPr marL="87313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IVL Dhunseri Petrochem Industries Private Limited Haldia </a:t>
            </a:r>
          </a:p>
          <a:p>
            <a:pPr marL="1200150" lvl="2" indent="-479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 Polymerization (CP) - Manufacturing Amorphous Polyethylene Terephthalate (APTE)  </a:t>
            </a:r>
          </a:p>
          <a:p>
            <a:pPr marL="1200150" lvl="2" indent="-479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Solid State Polycondensation (SSP) - Manufacturing Polyethylene Terephthalate (PTE)  </a:t>
            </a:r>
          </a:p>
          <a:p>
            <a:pPr marL="1200150" lvl="2" indent="-479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X 10 MW Coal based Captive Power Plant </a:t>
            </a:r>
            <a:endParaRPr lang="en-IN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49262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C9F5E01-56C4-3F53-4DF7-C1032DF4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74A06146-A0D9-9173-7639-D9CFA562E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50" y="81996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HAZOP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ABC3B-BCCF-63D2-29C9-977CEBF4D1DB}"/>
              </a:ext>
            </a:extLst>
          </p:cNvPr>
          <p:cNvSpPr txBox="1"/>
          <p:nvPr/>
        </p:nvSpPr>
        <p:spPr>
          <a:xfrm>
            <a:off x="66089" y="1033234"/>
            <a:ext cx="12035856" cy="2117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76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Explosive </a:t>
            </a:r>
          </a:p>
          <a:p>
            <a:pPr indent="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</a:rPr>
              <a:t>Solar Industries Limited Nagpur  </a:t>
            </a:r>
          </a:p>
          <a:p>
            <a:pPr marL="809625" indent="-4572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Fenton Treatment    </a:t>
            </a:r>
          </a:p>
          <a:p>
            <a:pPr marL="3619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5242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56210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-1" y="1156467"/>
            <a:ext cx="12122727" cy="280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Gobardhan Varanasi Foundation SPV</a:t>
            </a:r>
          </a:p>
          <a:p>
            <a:pPr marL="720725" indent="-36036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Raw Biogas Production Digester ( 55% Methane, 40% CO2 &amp; 1000PPM H2S)  and Compressed Biogas (95% Methane)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Kuwait Gulf Oil Company</a:t>
            </a:r>
          </a:p>
          <a:p>
            <a:pPr marL="719138" indent="-3619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Replacement of 12” crude oil pipeline with 16” crude oil pipeline along with associated facility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EA0DFBC-0629-4F4C-A761-302150769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923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HAZID      </a:t>
            </a:r>
          </a:p>
        </p:txBody>
      </p:sp>
    </p:spTree>
    <p:extLst>
      <p:ext uri="{BB962C8B-B14F-4D97-AF65-F5344CB8AC3E}">
        <p14:creationId xmlns:p14="http://schemas.microsoft.com/office/powerpoint/2010/main" val="229003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-1" y="1120553"/>
            <a:ext cx="12143509" cy="3734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Godavari Power and Ispat Limited Raipur ( HIRA Group Company)</a:t>
            </a:r>
          </a:p>
          <a:p>
            <a:pPr marL="719138" indent="-3619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Steel Melting Shop  </a:t>
            </a:r>
            <a:endParaRPr 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Gland Pharma Limited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Pashamylaram Hyderabad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Corona Remedies Limited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Bhayla Plant Ahmedabad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Corona Remedies Limited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Village Jatoli, Distt.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Solan, Himachal Pradesh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Blue Star Limited (Project Division)</a:t>
            </a:r>
          </a:p>
          <a:p>
            <a:pPr marL="342900" indent="96838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   Installation of Cooling Tower in Diesel Storage Tank area    </a:t>
            </a:r>
          </a:p>
          <a:p>
            <a:pPr marL="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EA0DFBC-0629-4F4C-A761-302150769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6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HIRA      </a:t>
            </a:r>
          </a:p>
        </p:txBody>
      </p:sp>
    </p:spTree>
    <p:extLst>
      <p:ext uri="{BB962C8B-B14F-4D97-AF65-F5344CB8AC3E}">
        <p14:creationId xmlns:p14="http://schemas.microsoft.com/office/powerpoint/2010/main" val="948551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6B9D9B3-40E5-064A-BA39-8576E18E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90FCF1-F9C1-D3CD-3678-C458FDAF7F88}"/>
              </a:ext>
            </a:extLst>
          </p:cNvPr>
          <p:cNvSpPr txBox="1"/>
          <p:nvPr/>
        </p:nvSpPr>
        <p:spPr>
          <a:xfrm>
            <a:off x="0" y="1229931"/>
            <a:ext cx="9361040" cy="170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Hetero Plasma Sciences Private Limited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Penjeria Village, Kothur, RR District 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endParaRPr 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911994F3-A6A9-2066-8972-3652B8E0E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6649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QRA      </a:t>
            </a:r>
          </a:p>
        </p:txBody>
      </p:sp>
    </p:spTree>
    <p:extLst>
      <p:ext uri="{BB962C8B-B14F-4D97-AF65-F5344CB8AC3E}">
        <p14:creationId xmlns:p14="http://schemas.microsoft.com/office/powerpoint/2010/main" val="115063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707DF54-32A8-DE5B-3FA4-2C00C97AD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449ABC-4F0B-80E7-A673-45615C9973AF}"/>
              </a:ext>
            </a:extLst>
          </p:cNvPr>
          <p:cNvSpPr txBox="1"/>
          <p:nvPr/>
        </p:nvSpPr>
        <p:spPr>
          <a:xfrm>
            <a:off x="-1" y="1162116"/>
            <a:ext cx="12122727" cy="170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Hindustan Unilever Limited Nalagarh Himachal Pradesh </a:t>
            </a:r>
          </a:p>
          <a:p>
            <a:pPr marL="719138" indent="-3619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Ammonia Refrigeration System   </a:t>
            </a:r>
            <a:endParaRPr 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999B29E-1FE2-4539-E76E-762C2BEC4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BowTie      </a:t>
            </a:r>
          </a:p>
        </p:txBody>
      </p:sp>
    </p:spTree>
    <p:extLst>
      <p:ext uri="{BB962C8B-B14F-4D97-AF65-F5344CB8AC3E}">
        <p14:creationId xmlns:p14="http://schemas.microsoft.com/office/powerpoint/2010/main" val="106140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7ED6E90-8ED6-605B-FB12-87C1598E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1A44B9-DF23-8A2F-B60C-39C8C1000044}"/>
              </a:ext>
            </a:extLst>
          </p:cNvPr>
          <p:cNvSpPr txBox="1"/>
          <p:nvPr/>
        </p:nvSpPr>
        <p:spPr>
          <a:xfrm>
            <a:off x="-1" y="1216077"/>
            <a:ext cx="12122727" cy="3328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FMCG company in Pune (Maharashtra)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Chemical Manufacturing company in Lote Parshuram (Maharashtra)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API manufacturing Company in VIZAG (Andhra Pradesh)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Polymer Product Manufacturing company near Vadodara (Gujarat)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Agrochemical company in Ankleshwar (Gujarat)    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endParaRPr 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FC63ADF-063E-0A76-8BE5-6EC31D62C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6649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DHA      </a:t>
            </a:r>
          </a:p>
        </p:txBody>
      </p:sp>
    </p:spTree>
    <p:extLst>
      <p:ext uri="{BB962C8B-B14F-4D97-AF65-F5344CB8AC3E}">
        <p14:creationId xmlns:p14="http://schemas.microsoft.com/office/powerpoint/2010/main" val="1793077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D16755-81DD-B8FB-7396-0C704CFB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39F7E98B-33AB-A699-8595-4E8E44E41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6632"/>
            <a:ext cx="46649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HAC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CB8BBD-FB71-1374-5880-90AE04C8C10E}"/>
              </a:ext>
            </a:extLst>
          </p:cNvPr>
          <p:cNvSpPr txBox="1"/>
          <p:nvPr/>
        </p:nvSpPr>
        <p:spPr>
          <a:xfrm>
            <a:off x="128464" y="905383"/>
            <a:ext cx="12063536" cy="2628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3200" dirty="0">
                <a:solidFill>
                  <a:schemeClr val="accent2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marL="352425" indent="-2651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‒"/>
            </a:pPr>
            <a:r>
              <a:rPr lang="en-GB" dirty="0">
                <a:latin typeface="Calibri" panose="020F0502020204030204" pitchFamily="34" charset="0"/>
              </a:rPr>
              <a:t>Hetero Lab Limited Formulation Unit 3 Jeedimetla, Hyderabad </a:t>
            </a: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6195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6195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085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1404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PSSR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5DFC27-DB12-52BD-F207-61D6ACD689D5}"/>
              </a:ext>
            </a:extLst>
          </p:cNvPr>
          <p:cNvSpPr txBox="1"/>
          <p:nvPr/>
        </p:nvSpPr>
        <p:spPr>
          <a:xfrm>
            <a:off x="0" y="876820"/>
            <a:ext cx="12192000" cy="4709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3200" dirty="0">
                <a:solidFill>
                  <a:schemeClr val="accent2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GB" b="1" dirty="0">
                <a:latin typeface="Calibri" panose="020F0502020204030204" pitchFamily="34" charset="0"/>
              </a:rPr>
              <a:t>Ruyat Oil Ltd (Olam Agri) Ilorin, Nigeria </a:t>
            </a: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PSSR of Green field project of Soya Crushing </a:t>
            </a:r>
          </a:p>
          <a:p>
            <a:pPr marL="85725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b="1" dirty="0">
                <a:latin typeface="Calibri" panose="020F0502020204030204" pitchFamily="34" charset="0"/>
              </a:rPr>
              <a:t>   ACG Cellulose Pvt. Ltd.</a:t>
            </a:r>
            <a:r>
              <a:rPr lang="en-GB" b="1" dirty="0">
                <a:latin typeface="Calibri" panose="020F0502020204030204" pitchFamily="34" charset="0"/>
              </a:rPr>
              <a:t> Dahej </a:t>
            </a:r>
          </a:p>
          <a:p>
            <a:pPr marL="900113" indent="-53816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GB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PSSR of Green field project for Manufacturing of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Hydroxypropyl Methylcellulose (HPMC)</a:t>
            </a:r>
            <a:r>
              <a:rPr lang="en-GB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used in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capsules cell and Coating of Tablets.</a:t>
            </a: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6195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715963" indent="-354013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GB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6195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6369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86049" y="953869"/>
            <a:ext cx="12029751" cy="559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Emergency Response Plan &amp; Pipeline Repair Plan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Transportation of Natural Gas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30-inch size &amp; 43 KM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pipeline from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Sajaa Gas Plant Station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Layyah Power Station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SHARJAH ELECTRICITY, WATER &amp; GAS AUTHORITY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Transportation of Natural Gas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30-inch size &amp; 21 KM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pipeline from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Sajaa Gas Plant Station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Wasit Power Station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SHARJAH ELECTRICITY, WATER &amp; GAS AUTHORITY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Emergency Response Plan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Gobardhan Varanasi Foundation SPV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Continuity Plan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Symed Labs Limited Unit 4 Hyderabad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Goods Lift Inspection – 15 Numbers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Luminous Power Technologies Pvt. Ltd Gagret, Himachal Pradesh for Unit No 1, 2 &amp; 4 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B845B8-EAC9-4D01-8E33-D7EB5442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6480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Risk Management       </a:t>
            </a:r>
          </a:p>
        </p:txBody>
      </p:sp>
    </p:spTree>
    <p:extLst>
      <p:ext uri="{BB962C8B-B14F-4D97-AF65-F5344CB8AC3E}">
        <p14:creationId xmlns:p14="http://schemas.microsoft.com/office/powerpoint/2010/main" val="3160509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4225C8-F4C0-F1E1-1C77-2811A53D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FF625B-4339-ECE1-F358-558F1839091C}"/>
              </a:ext>
            </a:extLst>
          </p:cNvPr>
          <p:cNvSpPr txBox="1"/>
          <p:nvPr/>
        </p:nvSpPr>
        <p:spPr>
          <a:xfrm>
            <a:off x="140429" y="1110545"/>
            <a:ext cx="12051571" cy="3975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Highly Hazardous Chemicals (HHC) 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Hetero Lab Limited, Unit 1 Gaddapotharam (Village), Kazipally – Hyderabad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30%, 60 % and 90%  Review (Legal Compliance, HSE, Process and Utility) during project setup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Tagros Chemicals India Private Limited, Ankleshwar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Vent Assessment to Safe Location for Air Tray Dryers, Vacuum Tray Dryers &amp; Rotary Cone Vacuum Dryer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447675" indent="-44767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Aragen Life Sciences Limited Hyderabad 	</a:t>
            </a:r>
          </a:p>
          <a:p>
            <a:pPr marL="447675" indent="-447675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Aragen Life Sciences Limited Vizag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5501E2F-5B20-CAE8-FBAC-873A538B4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9150"/>
            <a:ext cx="6480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Risk Management       </a:t>
            </a:r>
          </a:p>
        </p:txBody>
      </p:sp>
    </p:spTree>
    <p:extLst>
      <p:ext uri="{BB962C8B-B14F-4D97-AF65-F5344CB8AC3E}">
        <p14:creationId xmlns:p14="http://schemas.microsoft.com/office/powerpoint/2010/main" val="28168016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8D671-6ED6-49B5-A0F8-76E8783089AA}"/>
              </a:ext>
            </a:extLst>
          </p:cNvPr>
          <p:cNvSpPr txBox="1"/>
          <p:nvPr/>
        </p:nvSpPr>
        <p:spPr>
          <a:xfrm>
            <a:off x="0" y="1177248"/>
            <a:ext cx="9145016" cy="177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HSE Manual for Biogas project - Gobardhan Varanasi Foundation SPV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EA0DFBC-0629-4F4C-A761-302150769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586"/>
            <a:ext cx="5601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HSE Manual      </a:t>
            </a:r>
          </a:p>
        </p:txBody>
      </p:sp>
    </p:spTree>
    <p:extLst>
      <p:ext uri="{BB962C8B-B14F-4D97-AF65-F5344CB8AC3E}">
        <p14:creationId xmlns:p14="http://schemas.microsoft.com/office/powerpoint/2010/main" val="3503044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974A773-14B7-48EC-9A2D-FEF1D7E7737C}"/>
              </a:ext>
            </a:extLst>
          </p:cNvPr>
          <p:cNvSpPr txBox="1"/>
          <p:nvPr/>
        </p:nvSpPr>
        <p:spPr>
          <a:xfrm>
            <a:off x="110326" y="859995"/>
            <a:ext cx="12081674" cy="418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Safety Management Implementation as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per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29 CFR 1910.119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Tagros Chemicals India Private Limited Panoli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Tagros Chemicals India Private Limited Dahej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Indorama Synthetics (India) Limited Butibori (Nagpur)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Indorama Ventures Dhunseri Petrochem Industries Pvt Limited Haldia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Indorama Petrochem Limited Amphur Nikompattana Rayong Thailand   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Indorama Polyester Industries Public Company Limited Map Ta Phut Industrial Estate Rayong Thailand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Indorama Polymers Public Company Limited Amphur Tawung, Lopburi Thailand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Shogun Organics Limited Daund, Pune (Maharashtra)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2A245E4-D926-4808-A762-0752831B0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51080"/>
            <a:ext cx="69487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PSM Implementation      </a:t>
            </a:r>
          </a:p>
        </p:txBody>
      </p:sp>
    </p:spTree>
    <p:extLst>
      <p:ext uri="{BB962C8B-B14F-4D97-AF65-F5344CB8AC3E}">
        <p14:creationId xmlns:p14="http://schemas.microsoft.com/office/powerpoint/2010/main" val="31812544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656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-Training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710A1-01CC-4A45-8EA3-44B4D70C7423}"/>
              </a:ext>
            </a:extLst>
          </p:cNvPr>
          <p:cNvSpPr txBox="1"/>
          <p:nvPr/>
        </p:nvSpPr>
        <p:spPr>
          <a:xfrm>
            <a:off x="76936" y="674033"/>
            <a:ext cx="12115064" cy="542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 Safety Management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per OSHA (CFR 1910.119) &amp; CCPS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 Days Tagros Chemicals India Pvt Limited Dahej</a:t>
            </a: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 Days Tagros Chemicals India Pvt Limited Panoli </a:t>
            </a: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Deepak Novochem Lote Parshuram  </a:t>
            </a: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Indorama Synthetics(India) Limited Nagpur 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Indorama Ventures Dhunseri Petrochem Industries Pvt Limited Haldia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Indorama Petrochem Limited Amphur Nikompattana Rayong Thailand   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Indorama Polyester Industries Public Company Limited Map Ta Phut Industrial Estate Rayong Thailand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Indorama Polymers Public Company Limited Amphur Tawung, Lopburi Thailand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Gland Pharma Limited JNPC Visakhapatnam   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Gharda Chemicals Limited Lote Parshuram – Chiplun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Gujarat Insecticides Limited (Gharda) Ankleshwar 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Sequent Scientific Limited Mahad ( PHA – HAZOP &amp; HIRA, Asset Integrity)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Day Symed Labs Limited Unit 4  PSM (Process Safety Culture, Process Safety Competence &amp; Process Knowledge Management) </a:t>
            </a:r>
          </a:p>
        </p:txBody>
      </p:sp>
    </p:spTree>
    <p:extLst>
      <p:ext uri="{BB962C8B-B14F-4D97-AF65-F5344CB8AC3E}">
        <p14:creationId xmlns:p14="http://schemas.microsoft.com/office/powerpoint/2010/main" val="39596269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87D99DB-E530-F786-16F4-27F12F968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58D0B690-95B0-E0FD-48E5-F845969C2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-Training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E093E-30C4-F68B-2143-4EB36F1CFCCF}"/>
              </a:ext>
            </a:extLst>
          </p:cNvPr>
          <p:cNvSpPr txBox="1"/>
          <p:nvPr/>
        </p:nvSpPr>
        <p:spPr>
          <a:xfrm>
            <a:off x="60027" y="788373"/>
            <a:ext cx="12069628" cy="4842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Hazard and Operability Study (HAZOP)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Tagros Chemicals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India Private Limited 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 Industries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Limited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DCM Shriram Limited Bharuch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Days </a:t>
            </a:r>
            <a:r>
              <a:rPr lang="fr-FR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Gland Pharma Limited Hyderabad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Days </a:t>
            </a:r>
            <a:r>
              <a:rPr lang="fr-FR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Viyash Life Sciences Private Limited Hyderabad 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Indorama Petrochem Limited Amphur Nikompattana Rayong Thailand   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Indorama Polyester Industries Public Company Limited Map Ta Phut Industrial Estate Rayong Thailand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Indorama Polymers Public Company Limited Amphur Tawung, Lopburi Thailand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Day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Asian Paints Limited Khandala Plant</a:t>
            </a:r>
            <a:endParaRPr lang="en-IN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Half Day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Convergence Chemicals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Private Limited (Piramal Group)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Half Day </a:t>
            </a:r>
            <a:r>
              <a:rPr lang="fr-FR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Hindustan Coca Cola Beverage </a:t>
            </a:r>
            <a:r>
              <a:rPr lang="fr-F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(Online)   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437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0BE9238-75B8-C1F7-B428-12B674AA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77CB17E3-3D3C-2DF4-5188-7A8DD1840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-Training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E4EA0-56FD-20D0-DF7C-B65C6E6BB218}"/>
              </a:ext>
            </a:extLst>
          </p:cNvPr>
          <p:cNvSpPr txBox="1"/>
          <p:nvPr/>
        </p:nvSpPr>
        <p:spPr>
          <a:xfrm>
            <a:off x="162744" y="655813"/>
            <a:ext cx="12029256" cy="609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 Hazard Assessment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 Day </a:t>
            </a:r>
            <a:r>
              <a:rPr lang="en-IN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Symbiotec Pharma Private Limited </a:t>
            </a:r>
            <a:r>
              <a:rPr lang="en-IN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SEZ Pithampur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Hazard Identification and Risk Assessment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Half day Andhra Petrochemicals Limited Vishakhapatnam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Hazardous Area Classification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⁻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Online Training 5 Numbers (Half Day)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Dust Hazard Assessment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alibri" panose="020F0502020204030204" pitchFamily="34" charset="0"/>
              <a:buChar char="₋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Online Training 3 Numbers (Half Day)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Guarding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Day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Symbiotec Pharma Private Limited SEZ Pithampur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 Day Adani Total Gas (2 Number)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Lock Out &amp; </a:t>
            </a:r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 Out 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 Day Adani Total Gas (6 Number)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Behaviour Based Safety 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One day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Kirloskar Ferrous Industries Limited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907456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-Training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710A1-01CC-4A45-8EA3-44B4D70C7423}"/>
              </a:ext>
            </a:extLst>
          </p:cNvPr>
          <p:cNvSpPr txBox="1"/>
          <p:nvPr/>
        </p:nvSpPr>
        <p:spPr>
          <a:xfrm>
            <a:off x="131200" y="981278"/>
            <a:ext cx="12060800" cy="5792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Factory Act 1948 (Section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111 A) Chemical Awareness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Day Coromandel International Ltd Vapi (6 Batches )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Inspection of Cranes, Lifting Tools and Tackle </a:t>
            </a:r>
            <a:endParaRPr lang="en-IN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 EOT crane Operator certification – Godawari Ispat and Power Limited (2 Number)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 including Certification Material Handling Standard – Adani Group (2 Number)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Day Crane Operator Training Program – Worley India Pvt Limited (2 Numbers)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Day Open Online Awareness Programme through Microsoft Team (1 Number)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Day Pipeline Management Service Pvt. Limited (1 Number)   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day Awareness Program on Lifting Tools and Tackles &amp; Crane operator Training (Total 19 Number) 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Half Day for Worley Pearson (2 Number) 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Half Day for Chennai Petroleum Corporation Limited (1 Number)   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333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885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-Training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710A1-01CC-4A45-8EA3-44B4D70C7423}"/>
              </a:ext>
            </a:extLst>
          </p:cNvPr>
          <p:cNvSpPr txBox="1"/>
          <p:nvPr/>
        </p:nvSpPr>
        <p:spPr>
          <a:xfrm>
            <a:off x="86265" y="595511"/>
            <a:ext cx="12019470" cy="5596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Scaffolding Inspector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Piramal Pharma Limited, Dahej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Day Dr Reddy Laboratory CTO 5 Miryalguda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Day Jubilant Ingrevia Nira Baramati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@ Height and Scaffolding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</a:t>
            </a:r>
            <a:r>
              <a:rPr lang="en-IN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Symbiotec Pharmalab Limited </a:t>
            </a:r>
            <a:r>
              <a:rPr lang="en-IN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SEZ Pithampur, Indore  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Days Viyash Scientific Limited Unit IX Mahad Maharashtra  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Day Adani Total Gas (2 Numbers)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Excavator Safety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 Day M/S Worley Pearson (2 Number)  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Construction Safety ( Work @ Height, Scaffolding, Lifting Tools and Tackle, Machine Guarding, Electrical Safety, Permit to Work, Job Safety Analysis, Excavation Safety)</a:t>
            </a: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Adani Road Transport Limited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NPRPL Nanasa ( Khategaon ) Dist Harda Madhya Pradesh}  </a:t>
            </a:r>
          </a:p>
        </p:txBody>
      </p:sp>
    </p:spTree>
    <p:extLst>
      <p:ext uri="{BB962C8B-B14F-4D97-AF65-F5344CB8AC3E}">
        <p14:creationId xmlns:p14="http://schemas.microsoft.com/office/powerpoint/2010/main" val="36515458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-Training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710A1-01CC-4A45-8EA3-44B4D70C7423}"/>
              </a:ext>
            </a:extLst>
          </p:cNvPr>
          <p:cNvSpPr txBox="1"/>
          <p:nvPr/>
        </p:nvSpPr>
        <p:spPr>
          <a:xfrm>
            <a:off x="153260" y="928046"/>
            <a:ext cx="12038740" cy="480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Safety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Day Godrej Agrovet attended 60+ participants (Online)</a:t>
            </a: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 Day DLF Gurgaon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PSCI Audit Requirements and Methodology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Two Days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Symbiotec Pharma Private Limited SEZ Pithampur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Emergency Response Team Members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Gobardhan Varanasi Foundation SPV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Incident Investigation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Paradeep Phosphates Limited Goa (1 Number)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Day DLF Gurgaon (1 Number)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House Program (5 numbers) conducted at Mumbai, Bangalore, Delhi, Chandigarh, Hyderabad  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 Day DLF Gurgaon </a:t>
            </a:r>
            <a:endParaRPr lang="en-IN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9857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7BCE22F-75AB-FE2E-DE96-D0DC3191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542D0AB5-4440-5E42-D222-4B4365B1A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22"/>
            <a:ext cx="4951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Incident Investigation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FF2D8-E64A-D88F-9BB0-7B500F5C87C2}"/>
              </a:ext>
            </a:extLst>
          </p:cNvPr>
          <p:cNvSpPr txBox="1"/>
          <p:nvPr/>
        </p:nvSpPr>
        <p:spPr>
          <a:xfrm>
            <a:off x="-1" y="824136"/>
            <a:ext cx="121227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Distillery Company in Nasik, Maharashtra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Chemical Company in Bharuch Gujarat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Citi Gas distribution Company in Uttar Pradesh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Pharma company in Vizag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Petrol Pump North India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Fire in Agrochemical company Gujarat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"/>
            </a:pPr>
            <a:endParaRPr lang="en-IN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4540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9842" y="59167"/>
            <a:ext cx="86974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Project executed – Contractor Evaluation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710A1-01CC-4A45-8EA3-44B4D70C7423}"/>
              </a:ext>
            </a:extLst>
          </p:cNvPr>
          <p:cNvSpPr txBox="1"/>
          <p:nvPr/>
        </p:nvSpPr>
        <p:spPr>
          <a:xfrm>
            <a:off x="0" y="930535"/>
            <a:ext cx="12192000" cy="1605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Contractor Safety Management (Pre-Qualification Questionnaire) Online Evaluation –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Courier New" panose="02070309020205020404" pitchFamily="49" charset="0"/>
              <a:buChar char="­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Adani Total Gas Limited – 90 numbers ( Oct 2021 to March 2023)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6609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>
            <a:extLst>
              <a:ext uri="{FF2B5EF4-FFF2-40B4-BE49-F238E27FC236}">
                <a16:creationId xmlns:a16="http://schemas.microsoft.com/office/drawing/2014/main" id="{62E0CB51-4236-4C9A-A7DB-9F9D4A44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541"/>
            <a:ext cx="4951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FF3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3F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3F00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3F00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F00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About Company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A4973-172F-5E1A-2E9A-C92C4738CDD5}"/>
              </a:ext>
            </a:extLst>
          </p:cNvPr>
          <p:cNvSpPr txBox="1"/>
          <p:nvPr/>
        </p:nvSpPr>
        <p:spPr>
          <a:xfrm>
            <a:off x="98648" y="1178384"/>
            <a:ext cx="12093352" cy="4193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457200" algn="l"/>
                <a:tab pos="457200" algn="l"/>
              </a:tabLst>
            </a:pPr>
            <a:r>
              <a:rPr lang="en-GB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Name					</a:t>
            </a:r>
            <a:r>
              <a:rPr lang="en-GB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USHA Consulting </a:t>
            </a:r>
            <a:endParaRPr lang="en-IN" b="1" dirty="0">
              <a:solidFill>
                <a:srgbClr val="0000CC"/>
              </a:solidFill>
              <a:latin typeface="Calibri" panose="020F0502020204030204" pitchFamily="34" charset="0"/>
              <a:ea typeface="ＭＳ 明朝" panose="02020609040205080304" pitchFamily="49" charset="-128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457200" algn="l"/>
                <a:tab pos="457200" algn="l"/>
              </a:tabLst>
            </a:pPr>
            <a:r>
              <a:rPr lang="en-GB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PAN No				</a:t>
            </a:r>
            <a:r>
              <a:rPr lang="en-GB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AFFPS6633B</a:t>
            </a:r>
            <a:endParaRPr lang="en-IN" b="1" dirty="0">
              <a:solidFill>
                <a:srgbClr val="0000CC"/>
              </a:solidFill>
              <a:latin typeface="Calibri" panose="020F0502020204030204" pitchFamily="34" charset="0"/>
              <a:ea typeface="ＭＳ 明朝" panose="02020609040205080304" pitchFamily="49" charset="-128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457200" algn="l"/>
                <a:tab pos="457200" algn="l"/>
              </a:tabLst>
            </a:pPr>
            <a:r>
              <a:rPr lang="en-GB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GST No				</a:t>
            </a:r>
            <a:r>
              <a:rPr lang="en-GB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27AFFPS6633B1ZH</a:t>
            </a:r>
            <a:endParaRPr lang="en-IN" b="1" dirty="0">
              <a:solidFill>
                <a:srgbClr val="0000CC"/>
              </a:solidFill>
              <a:latin typeface="Calibri" panose="020F0502020204030204" pitchFamily="34" charset="0"/>
              <a:ea typeface="ＭＳ 明朝" panose="02020609040205080304" pitchFamily="49" charset="-128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457200" algn="l"/>
                <a:tab pos="457200" algn="l"/>
              </a:tabLst>
            </a:pPr>
            <a:r>
              <a:rPr lang="en-GB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Bank account No		</a:t>
            </a:r>
            <a:r>
              <a:rPr lang="en-GB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43771793773</a:t>
            </a:r>
            <a:endParaRPr lang="en-IN" b="1" dirty="0">
              <a:solidFill>
                <a:srgbClr val="0000CC"/>
              </a:solidFill>
              <a:latin typeface="Calibri" panose="020F0502020204030204" pitchFamily="34" charset="0"/>
              <a:ea typeface="ＭＳ 明朝" panose="02020609040205080304" pitchFamily="49" charset="-128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457200" algn="l"/>
                <a:tab pos="457200" algn="l"/>
              </a:tabLst>
            </a:pPr>
            <a:r>
              <a:rPr lang="en-GB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IFSC Code:                 	 	</a:t>
            </a:r>
            <a:r>
              <a:rPr lang="en-US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SBIN0015706</a:t>
            </a:r>
            <a:endParaRPr lang="en-GB" b="1" dirty="0">
              <a:solidFill>
                <a:srgbClr val="0000CC"/>
              </a:solidFill>
              <a:latin typeface="Calibri" panose="020F0502020204030204" pitchFamily="34" charset="0"/>
              <a:ea typeface="ＭＳ 明朝" panose="02020609040205080304" pitchFamily="49" charset="-128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457200" algn="l"/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Segoe UI Semilight" panose="020B0402040204020203" pitchFamily="34" charset="0"/>
                <a:cs typeface="Calibri" panose="020F0502020204030204" pitchFamily="34" charset="0"/>
              </a:rPr>
              <a:t>MICR Code:                         </a:t>
            </a:r>
            <a:r>
              <a:rPr lang="en-GB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411002098</a:t>
            </a:r>
            <a:endParaRPr lang="en-IN" b="1" dirty="0">
              <a:solidFill>
                <a:srgbClr val="0000CC"/>
              </a:solidFill>
              <a:latin typeface="Calibri" panose="020F0502020204030204" pitchFamily="34" charset="0"/>
              <a:ea typeface="ＭＳ 明朝" panose="02020609040205080304" pitchFamily="49" charset="-128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300"/>
              </a:spcBef>
              <a:buFont typeface="Symbol" panose="05050102010706020507" pitchFamily="18" charset="2"/>
              <a:buChar char=""/>
            </a:pPr>
            <a:r>
              <a:rPr lang="en-GB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Bank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Name                          </a:t>
            </a:r>
            <a:r>
              <a:rPr lang="en-GB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State Bank of India  </a:t>
            </a:r>
            <a:endParaRPr lang="en-IN" b="1" dirty="0">
              <a:solidFill>
                <a:srgbClr val="0000CC"/>
              </a:solidFill>
              <a:latin typeface="Calibri" panose="020F0502020204030204" pitchFamily="34" charset="0"/>
              <a:ea typeface="ＭＳ 明朝" panose="02020609040205080304" pitchFamily="49" charset="-128"/>
              <a:cs typeface="Calibri" panose="020F0502020204030204" pitchFamily="34" charset="0"/>
            </a:endParaRPr>
          </a:p>
          <a:p>
            <a:pPr marL="2782888" indent="-722313">
              <a:spcAft>
                <a:spcPts val="600"/>
              </a:spcAft>
            </a:pPr>
            <a:r>
              <a:rPr lang="en-GB" sz="2000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	</a:t>
            </a:r>
            <a:r>
              <a:rPr lang="en-GB" b="1" dirty="0">
                <a:solidFill>
                  <a:srgbClr val="0000CC"/>
                </a:solidFill>
                <a:latin typeface="Calibri" panose="020F0502020204030204" pitchFamily="34" charset="0"/>
                <a:ea typeface="ＭＳ 明朝" panose="02020609040205080304" pitchFamily="49" charset="-128"/>
                <a:cs typeface="Calibri" panose="020F0502020204030204" pitchFamily="34" charset="0"/>
              </a:rPr>
              <a:t>Chinchwadgaon Branch, Commercial  Complex, Opp Darshan Hall, Pimpri Chinchwad Link Road Chinchwad Pune 411033 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2908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E710A1-01CC-4A45-8EA3-44B4D70C7423}"/>
              </a:ext>
            </a:extLst>
          </p:cNvPr>
          <p:cNvSpPr txBox="1"/>
          <p:nvPr/>
        </p:nvSpPr>
        <p:spPr>
          <a:xfrm>
            <a:off x="1315753" y="1614943"/>
            <a:ext cx="9560495" cy="1866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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you </a:t>
            </a:r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69FC5727-D622-49BA-A915-DFE5C09DC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264" y="4725144"/>
            <a:ext cx="9086781" cy="18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8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EKRA MS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4927</TotalTime>
  <Words>4890</Words>
  <Application>Microsoft Office PowerPoint</Application>
  <PresentationFormat>Widescreen</PresentationFormat>
  <Paragraphs>721</Paragraphs>
  <Slides>60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Courier New</vt:lpstr>
      <vt:lpstr>Symbol</vt:lpstr>
      <vt:lpstr>Verdana</vt:lpstr>
      <vt:lpstr>Wingdings</vt:lpstr>
      <vt:lpstr>Office</vt:lpstr>
      <vt:lpstr>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RITESH SHARMA</dc:creator>
  <cp:keywords>USHA Consulting Profile</cp:keywords>
  <cp:lastModifiedBy>Ritesh Sharma</cp:lastModifiedBy>
  <cp:revision>1186</cp:revision>
  <dcterms:created xsi:type="dcterms:W3CDTF">2016-03-24T21:47:09Z</dcterms:created>
  <dcterms:modified xsi:type="dcterms:W3CDTF">2026-08-24T04:45:49Z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9a16b40-a803-442a-a923-9d42e9158dd1_Enabled">
    <vt:lpwstr>true</vt:lpwstr>
  </property>
  <property fmtid="{D5CDD505-2E9C-101B-9397-08002B2CF9AE}" pid="3" name="MSIP_Label_49a16b40-a803-442a-a923-9d42e9158dd1_SetDate">
    <vt:lpwstr>2021-10-29T09:54:31Z</vt:lpwstr>
  </property>
  <property fmtid="{D5CDD505-2E9C-101B-9397-08002B2CF9AE}" pid="4" name="MSIP_Label_49a16b40-a803-442a-a923-9d42e9158dd1_Method">
    <vt:lpwstr>Standard</vt:lpwstr>
  </property>
  <property fmtid="{D5CDD505-2E9C-101B-9397-08002B2CF9AE}" pid="5" name="MSIP_Label_49a16b40-a803-442a-a923-9d42e9158dd1_Name">
    <vt:lpwstr>Internal</vt:lpwstr>
  </property>
  <property fmtid="{D5CDD505-2E9C-101B-9397-08002B2CF9AE}" pid="6" name="MSIP_Label_49a16b40-a803-442a-a923-9d42e9158dd1_SiteId">
    <vt:lpwstr>cf81581f-cf8c-405d-97e3-34a295c8d882</vt:lpwstr>
  </property>
  <property fmtid="{D5CDD505-2E9C-101B-9397-08002B2CF9AE}" pid="7" name="MSIP_Label_49a16b40-a803-442a-a923-9d42e9158dd1_ActionId">
    <vt:lpwstr>ed85f545-916a-4e79-a5a0-b9bd1b05d708</vt:lpwstr>
  </property>
  <property fmtid="{D5CDD505-2E9C-101B-9397-08002B2CF9AE}" pid="8" name="MSIP_Label_49a16b40-a803-442a-a923-9d42e9158dd1_ContentBits">
    <vt:lpwstr>0</vt:lpwstr>
  </property>
</Properties>
</file>